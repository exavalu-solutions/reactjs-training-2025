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98" r:id="rId6"/>
    <p:sldId id="29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90" r:id="rId19"/>
    <p:sldId id="272" r:id="rId20"/>
    <p:sldId id="271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1" r:id="rId39"/>
    <p:sldId id="292" r:id="rId40"/>
    <p:sldId id="293" r:id="rId41"/>
    <p:sldId id="294" r:id="rId42"/>
    <p:sldId id="295" r:id="rId43"/>
    <p:sldId id="296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831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95D8-D4E9-BA72-FF6A-2FF9D8F6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56A6A-5E7A-9A03-EA22-27BB3CC70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9E70F-F6CE-6858-8D19-E6AF57DEF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B73AF-1DB2-7057-B1AB-7FF9CA28AD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60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7A0E-913E-7153-4424-5A2EE92C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FC786-4DBD-C7B1-8F62-805BFACE1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0AC51-E49F-0975-DEAA-2E0C15C80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D8D79-F2DE-0037-2AC7-64424C53B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07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8900" y="1415455"/>
            <a:ext cx="494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Topics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890511" y="2253655"/>
            <a:ext cx="3362879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React Readiness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990612" y="2969915"/>
            <a:ext cx="51627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JavaScript Fundamentals Before Learning React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Fundamentals (Variables, Operators, Control Flow)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&amp; Arrow Functions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Objects, Arrays &amp; ES6+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Closures &amp; Execution Context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JavaScript &amp; APIs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7735" y="2023170"/>
            <a:ext cx="616843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JavaScript Fundamentals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81312" y="2800350"/>
            <a:ext cx="35813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Data Types &amp; Operators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1565871"/>
            <a:ext cx="8083296" cy="935732"/>
          </a:xfrm>
          <a:prstGeom prst="roundRect">
            <a:avLst>
              <a:gd name="adj" fmla="val 35089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var, let, const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Named containers that store values in memory, with different scope rules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8096" y="1729662"/>
            <a:ext cx="7924800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3.14; // Never changes - Block-scoped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0; // Can change - Block-scoped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name = "John"; // Old way - Function-scoped (avoid)</a:t>
            </a:r>
            <a:endParaRPr lang="en-US" sz="96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119EECF-7165-9019-EA4B-890C313C4A32}"/>
              </a:ext>
            </a:extLst>
          </p:cNvPr>
          <p:cNvSpPr/>
          <p:nvPr/>
        </p:nvSpPr>
        <p:spPr>
          <a:xfrm>
            <a:off x="609600" y="266533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Hoisting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2E09E25-4042-1003-FDC6-FF506B8C0F96}"/>
              </a:ext>
            </a:extLst>
          </p:cNvPr>
          <p:cNvSpPr/>
          <p:nvPr/>
        </p:nvSpPr>
        <p:spPr>
          <a:xfrm>
            <a:off x="659892" y="3123123"/>
            <a:ext cx="8083296" cy="889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Hoisting refers to the behavior where JavaScript moves the declarations of variables, functions, and classes to the top of their scope during the compilation phase. 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81EC18C8-FB8C-FEFB-EDD9-8165FC43861D}"/>
              </a:ext>
            </a:extLst>
          </p:cNvPr>
          <p:cNvSpPr/>
          <p:nvPr/>
        </p:nvSpPr>
        <p:spPr>
          <a:xfrm>
            <a:off x="530352" y="3852272"/>
            <a:ext cx="8083296" cy="717966"/>
          </a:xfrm>
          <a:prstGeom prst="roundRect">
            <a:avLst>
              <a:gd name="adj" fmla="val 35089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>
              <a:lnSpc>
                <a:spcPts val="1536"/>
              </a:lnSpc>
            </a:pPr>
            <a:endParaRPr lang="en-US" dirty="0">
              <a:solidFill>
                <a:srgbClr val="CBD5E1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7F465-8712-93DB-4CE0-0C8F46C57AB2}"/>
              </a:ext>
            </a:extLst>
          </p:cNvPr>
          <p:cNvSpPr txBox="1"/>
          <p:nvPr/>
        </p:nvSpPr>
        <p:spPr>
          <a:xfrm>
            <a:off x="753618" y="3881357"/>
            <a:ext cx="7636764" cy="659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36"/>
              </a:lnSpc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x = 1; </a:t>
            </a:r>
          </a:p>
          <a:p>
            <a:pPr>
              <a:lnSpc>
                <a:spcPts val="1536"/>
              </a:lnSpc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Console.log(x); // 1</a:t>
            </a:r>
          </a:p>
          <a:p>
            <a:pPr>
              <a:lnSpc>
                <a:spcPts val="1536"/>
              </a:lnSpc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var x;  // declares at top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893608B-58B8-45EF-F1F9-78C96A00360B}"/>
              </a:ext>
            </a:extLst>
          </p:cNvPr>
          <p:cNvCxnSpPr/>
          <p:nvPr/>
        </p:nvCxnSpPr>
        <p:spPr>
          <a:xfrm rot="10800000">
            <a:off x="1371600" y="4005515"/>
            <a:ext cx="1508760" cy="411480"/>
          </a:xfrm>
          <a:prstGeom prst="bentConnector3">
            <a:avLst>
              <a:gd name="adj1" fmla="val -217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CDAD0-1B0B-9A11-3523-F100BC3E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0668A54-0BD5-FF30-D53A-8CEBB01D8BB6}"/>
              </a:ext>
            </a:extLst>
          </p:cNvPr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var, let, const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B538B5-8504-3C38-1CA9-437200CAD1DB}"/>
              </a:ext>
            </a:extLst>
          </p:cNvPr>
          <p:cNvSpPr/>
          <p:nvPr/>
        </p:nvSpPr>
        <p:spPr>
          <a:xfrm>
            <a:off x="609600" y="11734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Hoisting applies to variable and function declarations.</a:t>
            </a:r>
          </a:p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Initializations are not hoisted; they are only declarations.</a:t>
            </a:r>
          </a:p>
          <a:p>
            <a:pPr marL="285750" indent="-285750">
              <a:lnSpc>
                <a:spcPts val="189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'var' variables are hoisted with undefined, while 'let' and 'const' are hoisted but remain in the Temporal Dead Zone until initialized.</a:t>
            </a:r>
            <a:endParaRPr lang="en-US" sz="13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A1F81B3-8056-597B-196F-20A7AAB9CD23}"/>
              </a:ext>
            </a:extLst>
          </p:cNvPr>
          <p:cNvSpPr/>
          <p:nvPr/>
        </p:nvSpPr>
        <p:spPr>
          <a:xfrm>
            <a:off x="609600" y="228982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Dead Zone (TDZ)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A5A617C-F891-1D10-01E3-3685888DF9EB}"/>
              </a:ext>
            </a:extLst>
          </p:cNvPr>
          <p:cNvSpPr/>
          <p:nvPr/>
        </p:nvSpPr>
        <p:spPr>
          <a:xfrm>
            <a:off x="659892" y="2765822"/>
            <a:ext cx="8083296" cy="889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Temporal Dead Zone (TDZ) is a critical concept in JavaScript hoisting. It refers to the period between the entering of a scope (such as a function or block) and the actual initialization of a variable declared with let or const. During this time, any reference to the variable before its initialization will throw a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ReferenceError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3E07FAB8-4F47-E1A5-66DD-38D42E41BF53}"/>
              </a:ext>
            </a:extLst>
          </p:cNvPr>
          <p:cNvSpPr/>
          <p:nvPr/>
        </p:nvSpPr>
        <p:spPr>
          <a:xfrm>
            <a:off x="530352" y="3649981"/>
            <a:ext cx="8083296" cy="975360"/>
          </a:xfrm>
          <a:prstGeom prst="roundRect">
            <a:avLst>
              <a:gd name="adj" fmla="val 35089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>
              <a:lnSpc>
                <a:spcPts val="1536"/>
              </a:lnSpc>
            </a:pPr>
            <a:endParaRPr lang="en-US" dirty="0">
              <a:solidFill>
                <a:srgbClr val="CBD5E1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18C097-DBE6-6FD3-2FC3-AB8A5126B72A}"/>
              </a:ext>
            </a:extLst>
          </p:cNvPr>
          <p:cNvSpPr txBox="1"/>
          <p:nvPr/>
        </p:nvSpPr>
        <p:spPr>
          <a:xfrm>
            <a:off x="832866" y="3728864"/>
            <a:ext cx="7636764" cy="85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36"/>
              </a:lnSpc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hello(); // </a:t>
            </a:r>
            <a:r>
              <a:rPr lang="en-US" sz="1000" dirty="0" err="1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TypeError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: hello is not a function</a:t>
            </a:r>
          </a:p>
          <a:p>
            <a:pPr>
              <a:lnSpc>
                <a:spcPts val="1536"/>
              </a:lnSpc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var hello = function() {</a:t>
            </a:r>
          </a:p>
          <a:p>
            <a:pPr>
              <a:lnSpc>
                <a:spcPts val="1536"/>
              </a:lnSpc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    console.log("Hi!");</a:t>
            </a:r>
          </a:p>
          <a:p>
            <a:pPr>
              <a:lnSpc>
                <a:spcPts val="1536"/>
              </a:lnSpc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cs typeface="Courier New" pitchFamily="34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8002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06C47-4B3D-A4A6-B48C-A32527A0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E7701FA0-AB5E-9550-12DF-2BA2F322C109}"/>
              </a:ext>
            </a:extLst>
          </p:cNvPr>
          <p:cNvSpPr/>
          <p:nvPr/>
        </p:nvSpPr>
        <p:spPr>
          <a:xfrm>
            <a:off x="609600" y="1386780"/>
            <a:ext cx="7924800" cy="2406650"/>
          </a:xfrm>
          <a:prstGeom prst="roundRect">
            <a:avLst>
              <a:gd name="adj" fmla="val 1519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38A16BF4-27AC-C798-DC65-17F9253FE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524031"/>
              </p:ext>
            </p:extLst>
          </p:nvPr>
        </p:nvGraphicFramePr>
        <p:xfrm>
          <a:off x="762000" y="1539180"/>
          <a:ext cx="7620000" cy="2101848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Redeclare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Hoisting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undefined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accessible (TDZ)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accessible (TDZ)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Legacy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Changing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1">
            <a:extLst>
              <a:ext uri="{FF2B5EF4-FFF2-40B4-BE49-F238E27FC236}">
                <a16:creationId xmlns:a16="http://schemas.microsoft.com/office/drawing/2014/main" id="{4119B489-6D84-249A-2A49-4951854690DD}"/>
              </a:ext>
            </a:extLst>
          </p:cNvPr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var vs let vs const</a:t>
            </a:r>
            <a:endParaRPr lang="en-US" sz="27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14E47EC0-BFF7-DE71-24CB-04B3850E051A}"/>
              </a:ext>
            </a:extLst>
          </p:cNvPr>
          <p:cNvSpPr/>
          <p:nvPr/>
        </p:nvSpPr>
        <p:spPr>
          <a:xfrm>
            <a:off x="609600" y="109726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Named containers storing values. Each has different scope, reassignment, and hoisting rules</a:t>
            </a:r>
            <a:endParaRPr lang="en-US" sz="12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AF93BE7-DEC2-5D5A-9E6A-63F0F8D279D8}"/>
              </a:ext>
            </a:extLst>
          </p:cNvPr>
          <p:cNvSpPr/>
          <p:nvPr/>
        </p:nvSpPr>
        <p:spPr>
          <a:xfrm>
            <a:off x="609600" y="3869631"/>
            <a:ext cx="8083296" cy="21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rule: Use const by default (safest). Use let if value changes. Never use var (outdated).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3454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58814"/>
            <a:ext cx="7924800" cy="117018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30278"/>
            <a:ext cx="7924800" cy="124638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Types: Primitive vs Reference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0972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store actual values; References store memory addresses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1590158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(Value)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940601"/>
            <a:ext cx="761695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string, number, boolean, null, undefined, symbol, bigint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208692"/>
            <a:ext cx="7616952" cy="17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by value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38200" y="2758878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Types (Address)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3109317"/>
            <a:ext cx="761695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object, array, function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3377408"/>
            <a:ext cx="7616952" cy="17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by reference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09600" y="4103291"/>
            <a:ext cx="7924800" cy="4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still 5. But  → obj.x also 10!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1"/>
            <a:ext cx="7924800" cy="1432520"/>
          </a:xfrm>
          <a:prstGeom prst="roundRect">
            <a:avLst>
              <a:gd name="adj" fmla="val 25533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Operators: === vs ==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 Operators control how values are compared in conditions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83920" y="1607819"/>
            <a:ext cx="7086600" cy="1260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== "5" // true (type coercion - AVOID)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=== "5" // false (strict, no coercion - USE)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x = null ?? 0; // Nullish coalescing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y = name?.length; // Optional chaining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3097411"/>
            <a:ext cx="79248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 (loose):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Converts types before comparing. Unpredictable.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=== (strict):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conversion, compares type + value. Reliable.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Returns right value if left is null/undefined.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?.: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 property access, returns undefined instead of error.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16580"/>
            <a:ext cx="7924800" cy="952500"/>
          </a:xfrm>
          <a:prstGeom prst="roundRect">
            <a:avLst>
              <a:gd name="adj" fmla="val 55046"/>
            </a:avLst>
          </a:prstGeom>
          <a:solidFill>
            <a:srgbClr val="334155"/>
          </a:solidFill>
          <a:ln/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status = age &gt;= 18 ? "Adult" : "Minor"; // Ternary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Flow: Conditionals &amp; Loops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decisions based on conditions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multiple cases efficiently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over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conditional assignment (used in React JSX)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7114" y="2023170"/>
            <a:ext cx="702977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Functions &amp; Arrow Functions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86991" y="2800350"/>
            <a:ext cx="19699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Heart of React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39230"/>
            <a:ext cx="7924800" cy="1432520"/>
          </a:xfrm>
          <a:prstGeom prst="roundRect">
            <a:avLst>
              <a:gd name="adj" fmla="val 25533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Declaration vs Expression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9125" y="1371716"/>
            <a:ext cx="7924800" cy="130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Declaration (hoisted - runs before code)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function add(a, b) { return a + b; }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Expression (not hoisted)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const add = function(a, b) { return a + b; };</a:t>
            </a:r>
            <a:endParaRPr lang="en-US" sz="96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CE011F-C619-C171-C4E0-67617FE9E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182649"/>
              </p:ext>
            </p:extLst>
          </p:nvPr>
        </p:nvGraphicFramePr>
        <p:xfrm>
          <a:off x="628650" y="2804137"/>
          <a:ext cx="7905750" cy="1778000"/>
        </p:xfrm>
        <a:graphic>
          <a:graphicData uri="http://schemas.openxmlformats.org/drawingml/2006/table">
            <a:tbl>
              <a:tblPr/>
              <a:tblGrid>
                <a:gridCol w="2635250">
                  <a:extLst>
                    <a:ext uri="{9D8B030D-6E8A-4147-A177-3AD203B41FA5}">
                      <a16:colId xmlns:a16="http://schemas.microsoft.com/office/drawing/2014/main" val="1784577424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2256619697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4102952731"/>
                    </a:ext>
                  </a:extLst>
                </a:gridCol>
              </a:tblGrid>
              <a:tr h="1369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Key Differences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Declaration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Expression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501503"/>
                  </a:ext>
                </a:extLst>
              </a:tr>
              <a:tr h="2368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Hoisting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✅ Hoisted before code runs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❌ Not hoisted (undefined)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483717"/>
                  </a:ext>
                </a:extLst>
              </a:tr>
              <a:tr h="2368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Redeclaration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✅ Allowed (dangerous)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❌ Blocked with const (safe)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822203"/>
                  </a:ext>
                </a:extLst>
              </a:tr>
              <a:tr h="1369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Can use before definition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✅ Yes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❌ No (ReferenceError)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712944"/>
                  </a:ext>
                </a:extLst>
              </a:tr>
              <a:tr h="1369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Flexibility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Lower (fixed)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Higher (dynamic)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404372"/>
                  </a:ext>
                </a:extLst>
              </a:tr>
              <a:tr h="1369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React pattern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❌ Not recommended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✅ Standard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803161"/>
                  </a:ext>
                </a:extLst>
              </a:tr>
              <a:tr h="1369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Real-world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Helper utilities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Components, callbacks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5191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47902"/>
            <a:ext cx="7924800" cy="1920081"/>
          </a:xfrm>
          <a:prstGeom prst="roundRect">
            <a:avLst>
              <a:gd name="adj" fmla="val 19049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Functions: Modern JavaScript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Concise syntax for writing functions using  arrow notation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37260" y="1661160"/>
            <a:ext cx="70866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 expression (implicit return)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greet = (name) =&gt; `Hello, ${name}`;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Multiple lines (explicit return)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calculate = (a, b) =&gt; {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sum = a + b;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sum * 2;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3596580"/>
            <a:ext cx="7924800" cy="4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compact than  keyword.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this: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Arrow inherits  from parent scope (prevents context confusion).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loves them: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everywhere in event handlers, callbacks, array methods.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1371501"/>
          </a:xfrm>
          <a:prstGeom prst="roundRect">
            <a:avLst>
              <a:gd name="adj" fmla="val 26669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Higher-Order Functions (Part 1)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Functions that accept functions as parameters or return functions as results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3440" y="1584960"/>
            <a:ext cx="7437120" cy="122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numbers = [1, 2, 3, 4, 5];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doubled = numbers.map(n =&gt; n * 2);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even = numbers.filter(n =&gt; n % 2 === 0);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sum = numbers.reduce((acc, n) =&gt; acc + n, 0);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3036391"/>
            <a:ext cx="79248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 treat functions as first-class values (can pass around like data).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 help make your code more reusable and modular by allowing you to work with functions like any other value.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function: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function you pass to HOF.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Transforming lists, filtering users, calculating totals—critical React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60094"/>
            <a:ext cx="7924800" cy="71467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74766"/>
            <a:ext cx="7924800" cy="71467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89439"/>
            <a:ext cx="7924800" cy="71467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filter, reduce Explained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Most Important Array Methods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512494"/>
            <a:ext cx="7772400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1740991"/>
            <a:ext cx="7772400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function is used to transform an array by applying a callback function to each element. It returns a new array.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62000" y="2227166"/>
            <a:ext cx="7772400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2455664"/>
            <a:ext cx="7772400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filter function is used to create a new array containing elements that satisfy a given condition.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62000" y="2941839"/>
            <a:ext cx="7772400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3170337"/>
            <a:ext cx="7772400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reduce function accumulates array elements into a single value based on a callback function.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09600" y="432058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reality: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 for rendering lists, filter for search results, reduce for calculations. These are your daily tools.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1627584"/>
          </a:xfrm>
          <a:prstGeom prst="roundRect">
            <a:avLst>
              <a:gd name="adj" fmla="val 22473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Functions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you pass to another function, which calls it at a specific time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9160" y="1615440"/>
            <a:ext cx="7635240" cy="1448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Synchronous (runs immediately)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users = ['Alice', 'Bob'];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users.forEach(user =&gt; console.log(user));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Asynchronous (runs later)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 err="1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console.log('Done!'), 1000);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3292478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executes immediately when called.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executes later (after timer, API response, etc).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async callbacks create "callback hell" (deeply nested code).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Promises and async/await (coming next!).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9227" y="2023170"/>
            <a:ext cx="428544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Objects &amp; Arrays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16813" y="2800350"/>
            <a:ext cx="31102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Structures in React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2017713"/>
          </a:xfrm>
          <a:prstGeom prst="roundRect">
            <a:avLst>
              <a:gd name="adj" fmla="val 18127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Objects: Key-Value Pairs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Collection of related properties (keys) and values, like a data container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630680"/>
            <a:ext cx="7665720" cy="1823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user = {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name: "John", // key: value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age: 25,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email: "john@example.com"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user.name; // Dot notation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user["email"]; // Bracket notation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3682603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notation (.name) when key is known. Bracket notation (["email"]) when key is dynamic or has special characters.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Component props are objects. State is objects. Mastering object access = understanding React fundamentals.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47912"/>
            <a:ext cx="7924800" cy="2017713"/>
          </a:xfrm>
          <a:prstGeom prst="roundRect">
            <a:avLst>
              <a:gd name="adj" fmla="val 18127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Keyword: Context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73"/>
            <a:ext cx="8083296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refers to the object "calling" the function—changes based on how function is called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3440" y="1684020"/>
            <a:ext cx="7680960" cy="178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Regular function - this = undefined/window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function greet() { console.log(this); }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- inherits this from outer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greet = () =&gt; console.log(this);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method - this = the object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obj = { name: 'John', greet() { } };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3694212"/>
            <a:ext cx="7924800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Regular functions change  based on caller (confusing).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Arrow functions don't change —inherit from parent.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arrow functions in event handlers to avoid  issues.  works.  might fail.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1554361"/>
          </a:xfrm>
          <a:prstGeom prst="roundRect">
            <a:avLst>
              <a:gd name="adj" fmla="val 23531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(...) &amp; Rest (...) Operators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... to expand/spread values or collect remaining parameters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607820"/>
            <a:ext cx="7665720" cy="138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Spread - unpacks values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arr2 = [...arr1, 3, 4]; // [1, 2, 3, 4]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obj2 = { ...obj1, y: 2 }; // { x: 1, y: 2 }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Rest - collects remaining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sum = (a, b, ...nums) =&gt; {}; // ...nums array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3219255"/>
            <a:ext cx="7924800" cy="643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Copies all items from source into new array/object (shallow copy). Creates new arrays/objects immutably..</a:t>
            </a:r>
          </a:p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Collects remaining arguments into array. Merges old state with new value without mutation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React: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mutate state directly.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1920081"/>
          </a:xfrm>
          <a:prstGeom prst="roundRect">
            <a:avLst>
              <a:gd name="adj" fmla="val 19049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Destructuring: Cleaner Syntax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Unpack properties from objects/arrays into separate variables in one line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06780" y="1558528"/>
            <a:ext cx="7627620" cy="1797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destructuring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{ name, email } = user; // Extract 2 properties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Array destructuring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[first, second, ...rest] = [1, 2, 3, 4];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With defaults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{ country = "USA" } = user;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3584972"/>
            <a:ext cx="7924800" cy="64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better: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becomes one line.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...rest: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Collects remaining items.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usage: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—destructure props in function signature. Reduces boilerplate, increases readability.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Array Methods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Built-in functions for array manipulation. Some mutate (change original), others are immutable (create new)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360094"/>
            <a:ext cx="7620000" cy="15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Add/remove from end (mutates ❌)</a:t>
            </a:r>
            <a:endParaRPr lang="en-US" sz="105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Add/remove from start (mutates ❌)</a:t>
            </a:r>
            <a:endParaRPr lang="en-US" sz="105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portion (immutable ✅)</a:t>
            </a:r>
            <a:endParaRPr lang="en-US" sz="105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Remove/insert elements (mutates ❌)</a:t>
            </a:r>
            <a:endParaRPr lang="en-US" sz="1050" dirty="0"/>
          </a:p>
          <a:p>
            <a:pPr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arrays (immutable ✅)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3022104"/>
            <a:ext cx="79248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Rule: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 push/pop/splice on state! Use slice/concat/spread instead.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detects changes by comparing references.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Mutating original array won't trigger re-render.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7196" y="2023170"/>
            <a:ext cx="450951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Scope &amp; Closures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960441" y="2800350"/>
            <a:ext cx="32231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Variable Access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1429147"/>
          </a:xfrm>
          <a:prstGeom prst="roundRect">
            <a:avLst>
              <a:gd name="adj" fmla="val 25593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Where Variables Live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region of code where a variable can be accessed or modified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7720" y="1623060"/>
            <a:ext cx="7726680" cy="1242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global = "I'm global"; // Global scope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function outer() {</a:t>
            </a:r>
            <a:endParaRPr lang="en-US" sz="960" dirty="0"/>
          </a:p>
          <a:p>
            <a:pPr lvl="1">
              <a:lnSpc>
                <a:spcPts val="1536"/>
              </a:lnSpc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outerVar = "outer"; // Function scope</a:t>
            </a:r>
            <a:endParaRPr lang="en-US" sz="960" dirty="0"/>
          </a:p>
          <a:p>
            <a:pPr lvl="1">
              <a:lnSpc>
                <a:spcPts val="1536"/>
              </a:lnSpc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const blockVar = "block"; } // Block scope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14400" y="3094044"/>
            <a:ext cx="7620000" cy="143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Accessible everywhere (avoid pollution)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inside function (created with var or function declaration)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Inside {}, if/for/while (let/const only)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Inner scopes see outer scope variables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2017713"/>
          </a:xfrm>
          <a:prstGeom prst="roundRect">
            <a:avLst>
              <a:gd name="adj" fmla="val 18127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Closures: Functions Remembering Scope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"remembers" variables from its outer scope, even after outer function finishes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4860" y="1584960"/>
            <a:ext cx="7749540" cy="186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function makeCounter() {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let count = 0; // Private variable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() =&gt; ++count; // Inner function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counter = makeCounter();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console.log(counter()); // 1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console.log(counter()); // 2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3682603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 variable persists between function calls! Each returned function has its own count.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Private variables (bank account balance), data encapsulation, creating function factories.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Hooks (useState, useEffect) use closures to remember component state and dependencies.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494"/>
            <a:ext cx="7924800" cy="2163763"/>
          </a:xfrm>
          <a:prstGeom prst="roundRect">
            <a:avLst>
              <a:gd name="adj" fmla="val 16904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 Real-World: Bank Account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Private variable that can only be changed through specific methods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8200" y="1737360"/>
            <a:ext cx="7696200" cy="193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function createBankAccount(initialBalance) {</a:t>
            </a:r>
            <a:endParaRPr lang="en-US" sz="840" dirty="0"/>
          </a:p>
          <a:p>
            <a:pPr lvl="1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let balance = initialBalance; // Private!</a:t>
            </a:r>
            <a:endParaRPr lang="en-US" sz="840" dirty="0"/>
          </a:p>
          <a:p>
            <a:pPr lvl="1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{</a:t>
            </a:r>
            <a:endParaRPr lang="en-US" sz="840" dirty="0"/>
          </a:p>
          <a:p>
            <a:pPr lvl="2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deposit: (amt) =&gt; { balance += amt; return balance; },</a:t>
            </a:r>
            <a:endParaRPr lang="en-US" sz="840" dirty="0"/>
          </a:p>
          <a:p>
            <a:pPr lvl="2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withdraw: (amt) =&gt; { balance -= amt; return balance; },</a:t>
            </a:r>
            <a:endParaRPr lang="en-US" sz="840" dirty="0"/>
          </a:p>
          <a:p>
            <a:pPr lvl="2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getBalance: () =&gt; balance</a:t>
            </a:r>
            <a:endParaRPr lang="en-US" sz="840" dirty="0"/>
          </a:p>
          <a:p>
            <a:pPr lvl="1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acct = createBankAccount(100);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acct.deposit(50); // 150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609600" y="3828659"/>
            <a:ext cx="7924800" cy="643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 can't be changed directly (acct.balance = 0 won't work). Only deposit/withdraw methods can modify it.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Hides internal state, prevents bugs.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hooks: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uses closures to store component state—same pattern!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4622" y="2023170"/>
            <a:ext cx="625465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Asynchronous JavaScript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07389" y="2800350"/>
            <a:ext cx="29291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API Calls &amp; Events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2017713"/>
          </a:xfrm>
          <a:prstGeom prst="roundRect">
            <a:avLst>
              <a:gd name="adj" fmla="val 18127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Asynchronous?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operations take time (network requests, file reads, timers). Synchronous code blocks everything while waiting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44880" y="1684020"/>
            <a:ext cx="7589520" cy="1769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Synchronous (BLOCKS - bad!)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data = fetchDataFromServer(); // Wait 3 seconds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console.log(data); // Only runs after fetch done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App freezes!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Asynchronous (non-blocking - good!)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fetchDataFromServer(); // Start, continue immediately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console.log('Loading...'); // Runs right away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3682603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fetch was synchronous, whole website would freeze waiting for API. User can't click buttons, scroll, nothing.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request starts in background. UI stays responsive. When data arrives, update page.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API calls are async. Must handle with promises/async-await.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494"/>
            <a:ext cx="7924800" cy="1726006"/>
          </a:xfrm>
          <a:prstGeom prst="roundRect">
            <a:avLst>
              <a:gd name="adj" fmla="val 22143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Callbacks to Promises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Hell Problem: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nested callbacks become unreadable pyramid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7720" y="1676400"/>
            <a:ext cx="7726680" cy="148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40" dirty="0" err="1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</a:t>
            </a: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(id, (user) =&gt; {</a:t>
            </a:r>
            <a:endParaRPr lang="en-US" sz="840" dirty="0"/>
          </a:p>
          <a:p>
            <a:pPr lvl="1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getPosts(user.id, (posts) =&gt; {</a:t>
            </a:r>
            <a:endParaRPr lang="en-US" sz="840" dirty="0"/>
          </a:p>
          <a:p>
            <a:pPr lvl="2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getComments(posts[0].id, (comments) =&gt; {</a:t>
            </a:r>
            <a:endParaRPr lang="en-US" sz="840" dirty="0"/>
          </a:p>
          <a:p>
            <a:pPr lvl="2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 renderUI(comments); // Deeply nested!</a:t>
            </a:r>
            <a:endParaRPr lang="en-US" sz="840" dirty="0"/>
          </a:p>
          <a:p>
            <a:pPr lvl="2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840" dirty="0"/>
          </a:p>
          <a:p>
            <a:pPr lvl="1">
              <a:lnSpc>
                <a:spcPts val="1344"/>
              </a:lnSpc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 // Hard to read, maintain, debug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609600" y="3392891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bad: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level deeper = harder to follow logic. Error handling becomes messy. Indentation nightmare.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Promises and async/await flatten structure horizontally, making code more readable.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pattern: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Always use async/await for API calls, never nested callbacks.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60094"/>
            <a:ext cx="7924800" cy="65980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19895"/>
            <a:ext cx="7924800" cy="65980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679706"/>
            <a:ext cx="7924800" cy="65980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729242"/>
            <a:ext cx="7924800" cy="804658"/>
          </a:xfrm>
          <a:prstGeom prst="roundRect">
            <a:avLst>
              <a:gd name="adj" fmla="val 56075"/>
            </a:avLst>
          </a:prstGeom>
          <a:solidFill>
            <a:srgbClr val="334155"/>
          </a:solidFill>
          <a:ln/>
        </p:spPr>
        <p:txBody>
          <a:bodyPr wrap="square" lIns="228600" tIns="228600" rIns="228600" bIns="2286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fetch('/api/users').then(res =&gt; res.json()).catch(err =&gt; console.log(err));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Promises: Three States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Object representing eventual completion (or failure) of async operation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1512494"/>
            <a:ext cx="7772400" cy="17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Pending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62000" y="1686130"/>
            <a:ext cx="7772400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still running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62000" y="2172295"/>
            <a:ext cx="7772400" cy="17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Resolved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62000" y="2345931"/>
            <a:ext cx="7772400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(.then) → data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62000" y="2832106"/>
            <a:ext cx="7772400" cy="17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Rejected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62000" y="3005733"/>
            <a:ext cx="7772400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(.catch) → error</a:t>
            </a:r>
            <a:endParaRPr lang="en-US" sz="10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2017713"/>
          </a:xfrm>
          <a:prstGeom prst="roundRect">
            <a:avLst>
              <a:gd name="adj" fmla="val 18127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Async/Await: Modern Promise Handling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Syntactic sugar for promises that makes async code look synchronous and readable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9160" y="1623060"/>
            <a:ext cx="7635240" cy="183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Old: Promise chains (harder to read)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 err="1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fetchUser</a:t>
            </a: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().then(user =&gt; console.log(user));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New: Async/Await (looks synchronous!)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loadUser() {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user = await fetchUser();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console.log(user);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3682603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Declares function that returns Promise.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Pauses execution until Promise resolves, returns value.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reads top-to-bottom like synchronous code.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use try/catch instead of .catch(). </a:t>
            </a:r>
          </a:p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standard: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Always use async/await for data fetching in useEffect.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2212777"/>
          </a:xfrm>
          <a:prstGeom prst="roundRect">
            <a:avLst>
              <a:gd name="adj" fmla="val 16529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Handling: try/catch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Safely execute code that might fail and handle errors gracefully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1540" y="1645920"/>
            <a:ext cx="7642860" cy="200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loadData() {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try {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response = await fetch('/api/data');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data = await response.json();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console.log(data); // Success path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catch (error) {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console.log('Error:', error.message); // Catch any error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3726256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Execute code. If error occurs, jump to catch.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 the error.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(optional):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regardless.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Network request fails (offline)? Connection timeout? JSON parsing error? catch handles all of them.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error message to user in catch block.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294"/>
            <a:ext cx="7924800" cy="2229049"/>
          </a:xfrm>
          <a:prstGeom prst="roundRect">
            <a:avLst>
              <a:gd name="adj" fmla="val 16409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API: Making HTTP Requests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Built-in function to send HTTP requests to servers and retrieve data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8200" y="1645920"/>
            <a:ext cx="7696200" cy="201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(retrieve data)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response = await fetch('/api/users');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data = await response.json();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POST (send data)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response = await fetch('/api/users', {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method: 'POST',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headers: { 'Content-Type': 'application/json' },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body: JSON.stringify({ name: 'John' })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3726256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Fetch (get) data from server.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Send new data to server.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Tell server data format (JSON).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actual data to send.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React: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Load users on page load (GET). User submits form (POST). Like ordering food: GET asks "what's available", POST says "I'll have #5".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5808" y="2023170"/>
            <a:ext cx="575238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Modules &amp; Immutability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15721" y="2800350"/>
            <a:ext cx="35125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Modules &amp; State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303"/>
            <a:ext cx="7924800" cy="2102941"/>
          </a:xfrm>
          <a:prstGeom prst="roundRect">
            <a:avLst>
              <a:gd name="adj" fmla="val 17393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Organize Code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7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 JavaScript into separate files, reuse functions/data across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2500" y="1615440"/>
            <a:ext cx="7216140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math.js - Named export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export const add = (a, b) =&gt; a + b;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Default export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export default { add };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main.js - Import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{ add } from './math.js';</a:t>
            </a:r>
            <a:endParaRPr lang="en-US" sz="9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math from './math.js';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3767844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function/variable available to other files.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export: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export multiple.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export: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per file.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exported code in another file. </a:t>
            </a: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reality: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component is module. Button.js exports Button component. App.js imports Button. Keeps code organized, reusable, maintainable.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303"/>
            <a:ext cx="7924800" cy="1908076"/>
          </a:xfrm>
          <a:prstGeom prst="roundRect">
            <a:avLst>
              <a:gd name="adj" fmla="val 19169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Immutability: React's Foundation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7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modify original data; create new copy with changes instead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6300" y="1570527"/>
            <a:ext cx="7307580" cy="177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Mutable (React won't detect change)</a:t>
            </a:r>
            <a:endParaRPr lang="en-US" sz="1020" dirty="0"/>
          </a:p>
          <a:p>
            <a:pPr marL="0" indent="0">
              <a:lnSpc>
                <a:spcPts val="1632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user = { name: 'John' };</a:t>
            </a:r>
            <a:endParaRPr lang="en-US" sz="1020" dirty="0"/>
          </a:p>
          <a:p>
            <a:pPr marL="0" indent="0">
              <a:lnSpc>
                <a:spcPts val="1632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user.name = 'Jane'; // Modified original</a:t>
            </a:r>
            <a:endParaRPr lang="en-US" sz="1020" dirty="0"/>
          </a:p>
          <a:p>
            <a:pPr marL="0" indent="0">
              <a:lnSpc>
                <a:spcPts val="1632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20" dirty="0"/>
          </a:p>
          <a:p>
            <a:pPr marL="0" indent="0">
              <a:lnSpc>
                <a:spcPts val="1632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✅ Immutable (React detects change)</a:t>
            </a:r>
            <a:endParaRPr lang="en-US" sz="1020" dirty="0"/>
          </a:p>
          <a:p>
            <a:pPr marL="0" indent="0">
              <a:lnSpc>
                <a:spcPts val="1632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user = { name: 'John' };</a:t>
            </a:r>
            <a:endParaRPr lang="en-US" sz="1020" dirty="0"/>
          </a:p>
          <a:p>
            <a:pPr marL="0" indent="0">
              <a:lnSpc>
                <a:spcPts val="1632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updated = {...user, name: 'Jane'}; // New object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9600" y="3572973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React cares: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 compares references. If object address doesn't change, React thinks data didn't change. Creates new object/array = different address = React detects update = re-render.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use assignment (=) on state. Always use spread operator or .map(), .filter() to create new versions.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03"/>
            <a:ext cx="7924800" cy="1993106"/>
          </a:xfrm>
          <a:prstGeom prst="roundRect">
            <a:avLst>
              <a:gd name="adj" fmla="val 18351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Array Patterns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7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Techniques to add/remove/change array items without modifying original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7720" y="1767839"/>
            <a:ext cx="7726680" cy="1737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items = [1, 2, 3];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❌ Mutable (React won't re-render!)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items.push(4); // changes original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✅ Immutable (React detects change)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newItems = [...items, 4]; // Add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removed = items.filter(i =&gt; i !== 2); // Remove</a:t>
            </a:r>
            <a:endParaRPr lang="en-US" sz="840" dirty="0"/>
          </a:p>
          <a:p>
            <a:pPr marL="0" indent="0">
              <a:lnSpc>
                <a:spcPts val="1344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mapped = items.map(i =&gt; i * 2); // Update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609600" y="3658009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[...items, 4] creates NEW array with all old items + 4.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Creates new array keeping only matching items.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Creates new array transforming each item.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pattern: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updating state array, always use these instead of push/splice/pop.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36303"/>
            <a:ext cx="7924800" cy="1802408"/>
          </a:xfrm>
          <a:prstGeom prst="roundRect">
            <a:avLst>
              <a:gd name="adj" fmla="val 20293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DOM: Document Object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7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JavaScript representation of HTML structure. Tree of elements you can query and modify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0100" y="1600199"/>
            <a:ext cx="7734300" cy="163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elements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btn = document.getElementById('myBtn');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divs = document.querySelectorAll('div');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Update/interact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btn.textContent = 'Click Me!';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btn.addEventListener('click', () =&gt; {})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09600" y="3467305"/>
            <a:ext cx="7924800" cy="106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HTML loads, browser creates DOM—tree structure. JavaScript accesses via document.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getElementById, querySelector, querySelectorAll find elements. textContent, innerHTML modify content. addEventListener listens for clicks, typing, etc.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note: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 abstracts this away! You work with components instead. React handles DOM updates automatically. Understanding DOM helps debug, but won't write DOM code in React.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03"/>
            <a:ext cx="7924800" cy="1741237"/>
          </a:xfrm>
          <a:prstGeom prst="roundRect">
            <a:avLst>
              <a:gd name="adj" fmla="val 27034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Handling: try/catch/throw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9727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Gracefully handle unexpected situations without app crashing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1080" y="1653540"/>
            <a:ext cx="751332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(!data) throw new Error('No data!');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processData(data);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catch (error) {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console.log('Error:', error.message);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finally {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cleanup(); // Always runs</a:t>
            </a:r>
            <a:endParaRPr lang="en-US" sz="960" dirty="0"/>
          </a:p>
          <a:p>
            <a:pPr marL="0" indent="0">
              <a:lnSpc>
                <a:spcPts val="1536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14400" y="3394777"/>
            <a:ext cx="7620000" cy="113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that might fail or throw error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Catches any error, prevent crash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Manually trigger error if condition invalid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Cleanup code (close files, cancel timers) always runs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Readiness: Must-Know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73"/>
            <a:ext cx="7620000" cy="236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functions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Concise syntax, lexical this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filter, reduce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Transform and process arrays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Destructuring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Unpack objects/arrays cleanly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operator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Immutably copy and merge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 &amp; scope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Functions remember variables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Async/await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Handle API calls elegantly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Immutability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Never mutate state directly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60103"/>
            <a:ext cx="7924800" cy="8319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92052"/>
            <a:ext cx="7924800" cy="8319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Concepts Matter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09727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vs React: The Paradigm Shift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1588703"/>
            <a:ext cx="7616952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1771557"/>
            <a:ext cx="761695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DOM updates, imperative (tell computer WHAT to do)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420652"/>
            <a:ext cx="7616952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2603506"/>
            <a:ext cx="761695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updates, declarative (describe WHAT should appear)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09600" y="4107266"/>
            <a:ext cx="79248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 uses array methods, closures, async/await, immutability patterns you're learning. Master these = understand React deeply. Skip them = struggle with components, state, hooks.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JavaScript Pitfalls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7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instead of  - Type coercion bugs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Mutating state directly - React won't detect changes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 on promises - Async race conditions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confusion - Variables accessible from wrong places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handling errors - Crashes in production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Your Learning Path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7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code daily on CodePen or replit.com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projects (calculator, todo list)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concept deeply before moving 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React with solid JavaScript foundation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305544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JavaScript = Easy React!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4" y="1777417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900126" y="2554598"/>
            <a:ext cx="33436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practicing JavaScript today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3935</Words>
  <Application>Microsoft Office PowerPoint</Application>
  <PresentationFormat>On-screen Show (16:9)</PresentationFormat>
  <Paragraphs>478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Rituparna Bhattacharya</cp:lastModifiedBy>
  <cp:revision>5</cp:revision>
  <dcterms:created xsi:type="dcterms:W3CDTF">2025-12-21T08:37:29Z</dcterms:created>
  <dcterms:modified xsi:type="dcterms:W3CDTF">2025-12-22T15:35:46Z</dcterms:modified>
</cp:coreProperties>
</file>