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2"/>
  </p:notesMasterIdLst>
  <p:sldIdLst>
    <p:sldId id="256" r:id="rId5"/>
    <p:sldId id="257" r:id="rId6"/>
    <p:sldId id="258" r:id="rId7"/>
    <p:sldId id="259" r:id="rId8"/>
    <p:sldId id="263" r:id="rId9"/>
    <p:sldId id="264" r:id="rId10"/>
    <p:sldId id="265" r:id="rId11"/>
    <p:sldId id="262" r:id="rId12"/>
    <p:sldId id="267" r:id="rId13"/>
    <p:sldId id="271" r:id="rId14"/>
    <p:sldId id="268" r:id="rId15"/>
    <p:sldId id="269" r:id="rId16"/>
    <p:sldId id="270" r:id="rId17"/>
    <p:sldId id="272" r:id="rId18"/>
    <p:sldId id="273" r:id="rId19"/>
    <p:sldId id="274" r:id="rId20"/>
    <p:sldId id="275" r:id="rId21"/>
  </p:sldIdLst>
  <p:sldSz cx="9144000" cy="5143500" type="screen16x9"/>
  <p:notesSz cx="6858000" cy="9144000"/>
  <p:embeddedFontLst>
    <p:embeddedFont>
      <p:font typeface="Arial Nova" panose="020B050402020202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5C496-F89F-87BE-0D5C-08C4013A0EC3}" v="95" dt="2023-04-14T09:09:18.909"/>
    <p1510:client id="{669EFC3C-7ED5-44BE-BF9C-70383889DCCE}" v="139" dt="2023-04-03T20:22:43.445"/>
    <p1510:client id="{6CD6B2B8-FEEF-C3A9-6EFA-066A111D192B}" v="23" dt="2023-04-13T14:22:36.961"/>
    <p1510:client id="{78A62312-E03F-2740-C297-883520389ED2}" v="2" dt="2023-04-14T04:47:38.605"/>
    <p1510:client id="{88DA2BD6-6D9F-4CDE-A33D-B14E4904F00F}" v="956" dt="2023-04-03T07:07:57.592"/>
    <p1510:client id="{9EC42F8D-1D19-910F-0B5A-5010F19AB8D3}" v="237" dt="2023-04-03T19:32:40.447"/>
    <p1510:client id="{9FEF357B-F63F-460F-9A74-69C7989FC3D3}" v="5" dt="2023-04-04T08:49:41.919"/>
    <p1510:client id="{DE75AC1D-3CB5-7499-CBC5-D3BEBE9D8441}" v="15" dt="2023-04-04T09:53:54.336"/>
    <p1510:client id="{E899F558-017F-0F21-3587-CFC18E9613F2}" v="24" dt="2023-05-28T18:19:54.593"/>
    <p1510:client id="{F7EE2C4A-0C9A-6731-8B77-5BF6ECD58360}" v="457" dt="2023-04-02T17:26:22.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font" Target="fonts/font1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0759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8893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5440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447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280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1857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7122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3187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4801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91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109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865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2032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0048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9f61bf232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9f61bf232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12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React Hooks</a:t>
            </a:r>
            <a:endParaRPr/>
          </a:p>
        </p:txBody>
      </p:sp>
      <p:sp>
        <p:nvSpPr>
          <p:cNvPr id="86" name="Google Shape;86;p13"/>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indent="0"/>
            <a:r>
              <a:rPr lang="en-US" err="1"/>
              <a:t>Fullstack</a:t>
            </a:r>
            <a:r>
              <a:rPr lang="en-US"/>
              <a:t> Team</a:t>
            </a:r>
            <a:endParaRPr/>
          </a:p>
        </p:txBody>
      </p:sp>
      <p:sp>
        <p:nvSpPr>
          <p:cNvPr id="87" name="Google Shape;87;p13"/>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Introduction of Hooks</a:t>
            </a:r>
            <a:endParaRPr b="1" dirty="0"/>
          </a:p>
        </p:txBody>
      </p:sp>
      <p:sp>
        <p:nvSpPr>
          <p:cNvPr id="93" name="Google Shape;93;p14"/>
          <p:cNvSpPr txBox="1">
            <a:spLocks noGrp="1"/>
          </p:cNvSpPr>
          <p:nvPr>
            <p:ph type="body" idx="1"/>
          </p:nvPr>
        </p:nvSpPr>
        <p:spPr>
          <a:xfrm>
            <a:off x="528964" y="1090175"/>
            <a:ext cx="7795197" cy="3276543"/>
          </a:xfrm>
          <a:prstGeom prst="rect">
            <a:avLst/>
          </a:prstGeom>
        </p:spPr>
        <p:txBody>
          <a:bodyPr spcFirstLastPara="1" wrap="square" lIns="91425" tIns="91425" rIns="91425" bIns="91425" anchor="t" anchorCtr="0">
            <a:noAutofit/>
          </a:bodyPr>
          <a:lstStyle/>
          <a:p>
            <a:pPr marL="0" indent="0">
              <a:buSzPts val="770"/>
              <a:buNone/>
            </a:pPr>
            <a:r>
              <a:rPr lang="en" sz="1200"/>
              <a:t>React Hooks were introduced in React 16.8 as a way to use state and other React features without using class components.</a:t>
            </a:r>
            <a:endParaRPr lang="en-US" sz="1200"/>
          </a:p>
          <a:p>
            <a:pPr marL="0" indent="0">
              <a:lnSpc>
                <a:spcPct val="114999"/>
              </a:lnSpc>
              <a:buSzPts val="770"/>
              <a:buNone/>
            </a:pPr>
            <a:r>
              <a:rPr lang="en" sz="1200"/>
              <a:t> Here are some advantages of using hooks over class components:​</a:t>
            </a:r>
            <a:endParaRPr lang="en-US" sz="1200"/>
          </a:p>
          <a:p>
            <a:pPr marL="171450" indent="-171450">
              <a:lnSpc>
                <a:spcPct val="114999"/>
              </a:lnSpc>
              <a:buSzPts val="770"/>
              <a:buFont typeface="Wingdings"/>
              <a:buChar char="Ø"/>
            </a:pPr>
            <a:endParaRPr lang="en" sz="1100"/>
          </a:p>
          <a:p>
            <a:pPr marL="285750" indent="-171450">
              <a:lnSpc>
                <a:spcPct val="114999"/>
              </a:lnSpc>
              <a:buSzPts val="770"/>
              <a:buFont typeface="Wingdings"/>
              <a:buChar char="Ø"/>
            </a:pPr>
            <a:r>
              <a:rPr lang="en" sz="1200" b="1"/>
              <a:t>Simplicity: </a:t>
            </a:r>
            <a:r>
              <a:rPr lang="en" sz="1200"/>
              <a:t>Hooks simplify code and make it easier to understand. </a:t>
            </a:r>
          </a:p>
          <a:p>
            <a:pPr marL="285750" indent="-171450">
              <a:lnSpc>
                <a:spcPct val="114999"/>
              </a:lnSpc>
              <a:buSzPts val="770"/>
              <a:buFont typeface="Wingdings"/>
              <a:buChar char="Ø"/>
            </a:pPr>
            <a:endParaRPr lang="en" sz="1200"/>
          </a:p>
          <a:p>
            <a:pPr marL="285750" indent="-171450">
              <a:lnSpc>
                <a:spcPct val="114999"/>
              </a:lnSpc>
              <a:buSzPts val="770"/>
              <a:buFont typeface="Wingdings"/>
              <a:buChar char="Ø"/>
            </a:pPr>
            <a:r>
              <a:rPr lang="en" sz="1200" b="1"/>
              <a:t>Reusability:</a:t>
            </a:r>
            <a:r>
              <a:rPr lang="en" sz="1200"/>
              <a:t> With hooks, we can extract reusable logic into custom hooks that can be shared across multiple components. This makes it easier to maintain and update the code.</a:t>
            </a:r>
            <a:endParaRPr lang="en"/>
          </a:p>
          <a:p>
            <a:pPr marL="285750" indent="-171450">
              <a:lnSpc>
                <a:spcPct val="114999"/>
              </a:lnSpc>
              <a:buSzPts val="770"/>
              <a:buFont typeface="Wingdings"/>
              <a:buChar char="Ø"/>
            </a:pPr>
            <a:endParaRPr lang="en" sz="1200"/>
          </a:p>
          <a:p>
            <a:pPr marL="285750" indent="-171450">
              <a:lnSpc>
                <a:spcPct val="114999"/>
              </a:lnSpc>
              <a:buSzPts val="770"/>
              <a:buFont typeface="Wingdings"/>
              <a:buChar char="Ø"/>
            </a:pPr>
            <a:r>
              <a:rPr lang="en" sz="1200" b="1"/>
              <a:t>Scalability:</a:t>
            </a:r>
            <a:r>
              <a:rPr lang="en" sz="1200"/>
              <a:t> Hooks make it easier to handle complex state management and logic in large applications.</a:t>
            </a:r>
            <a:endParaRPr sz="1200"/>
          </a:p>
          <a:p>
            <a:pPr marL="285750" indent="-171450">
              <a:lnSpc>
                <a:spcPct val="114999"/>
              </a:lnSpc>
              <a:buSzPts val="770"/>
              <a:buFont typeface="Wingdings"/>
              <a:buChar char="Ø"/>
            </a:pPr>
            <a:endParaRPr lang="en" sz="1200"/>
          </a:p>
          <a:p>
            <a:pPr marL="285750" indent="-171450">
              <a:lnSpc>
                <a:spcPct val="114999"/>
              </a:lnSpc>
              <a:buSzPts val="770"/>
              <a:buFont typeface="Wingdings"/>
              <a:buChar char="Ø"/>
            </a:pPr>
            <a:r>
              <a:rPr lang="en" sz="1200" b="1"/>
              <a:t>Better performance:</a:t>
            </a:r>
            <a:r>
              <a:rPr lang="en" sz="1200"/>
              <a:t> Hooks can optimize component rendering and state management, which can improve the performance of the application.</a:t>
            </a:r>
            <a:endParaRPr sz="1200"/>
          </a:p>
          <a:p>
            <a:pPr marL="285750" indent="-171450">
              <a:lnSpc>
                <a:spcPct val="114999"/>
              </a:lnSpc>
              <a:buSzPts val="770"/>
              <a:buFont typeface="Wingdings"/>
              <a:buChar char="Ø"/>
            </a:pPr>
            <a:endParaRPr lang="en" sz="1200"/>
          </a:p>
          <a:p>
            <a:pPr marL="285750" indent="-171450">
              <a:lnSpc>
                <a:spcPct val="114999"/>
              </a:lnSpc>
              <a:buSzPts val="770"/>
              <a:buFont typeface="Wingdings"/>
              <a:buChar char="Ø"/>
            </a:pPr>
            <a:r>
              <a:rPr lang="en" sz="1200" b="1"/>
              <a:t>Cleaner code: </a:t>
            </a:r>
            <a:r>
              <a:rPr lang="en" sz="1200"/>
              <a:t>Hooks allow developers to separate concerns, leading to cleaner and more organized code.</a:t>
            </a:r>
            <a:endParaRPr sz="1200"/>
          </a:p>
          <a:p>
            <a:pPr marL="285750" indent="-171450">
              <a:lnSpc>
                <a:spcPct val="114999"/>
              </a:lnSpc>
              <a:buSzPts val="770"/>
              <a:buFont typeface="Wingdings"/>
              <a:buChar char="Ø"/>
            </a:pPr>
            <a:endParaRPr lang="en" sz="1200"/>
          </a:p>
          <a:p>
            <a:pPr marL="285750" indent="-171450">
              <a:lnSpc>
                <a:spcPct val="114999"/>
              </a:lnSpc>
              <a:buSzPts val="770"/>
              <a:buFont typeface="Wingdings"/>
              <a:buChar char="Ø"/>
            </a:pPr>
            <a:r>
              <a:rPr lang="en" sz="1200" b="1"/>
              <a:t>Testing:</a:t>
            </a:r>
            <a:r>
              <a:rPr lang="en" sz="1200"/>
              <a:t> Hooks are easier to test than class components, as they don't rely on lifecycle methods.</a:t>
            </a:r>
          </a:p>
          <a:p>
            <a:pPr marL="0" lvl="0" indent="0" algn="l">
              <a:spcBef>
                <a:spcPts val="1200"/>
              </a:spcBef>
              <a:spcAft>
                <a:spcPts val="1200"/>
              </a:spcAft>
              <a:buSzPts val="770"/>
              <a:buNone/>
            </a:pPr>
            <a:endParaRPr lang="en" sz="11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a:t>Rules for using Hooks:</a:t>
            </a:r>
            <a:endParaRPr lang="en-US"/>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454421" y="932805"/>
            <a:ext cx="8061523" cy="2696761"/>
          </a:xfrm>
          <a:prstGeom prst="rect">
            <a:avLst/>
          </a:prstGeom>
        </p:spPr>
        <p:txBody>
          <a:bodyPr spcFirstLastPara="1" wrap="square" lIns="91425" tIns="91425" rIns="91425" bIns="91425" anchor="t" anchorCtr="0">
            <a:noAutofit/>
          </a:bodyPr>
          <a:lstStyle/>
          <a:p>
            <a:pPr marL="285750" indent="-171450">
              <a:lnSpc>
                <a:spcPct val="114999"/>
              </a:lnSpc>
              <a:buFont typeface="Wingdings"/>
              <a:buChar char="Ø"/>
            </a:pPr>
            <a:r>
              <a:rPr lang="en" sz="1200" b="1"/>
              <a:t>Use Hooks Only in Function Components:</a:t>
            </a:r>
            <a:r>
              <a:rPr lang="en" sz="1200"/>
              <a:t> React Hooks can only be used in function components and not in class components or outside of a component. This is because Hooks rely on the function component’s call order to work correctly.</a:t>
            </a:r>
            <a:endParaRPr lang="en-US"/>
          </a:p>
          <a:p>
            <a:pPr marL="285750" indent="-171450">
              <a:lnSpc>
                <a:spcPct val="114999"/>
              </a:lnSpc>
              <a:buFont typeface="Wingdings"/>
              <a:buChar char="Ø"/>
            </a:pPr>
            <a:r>
              <a:rPr lang="en" sz="1200" b="1"/>
              <a:t>Use Hooks at the Top Level:</a:t>
            </a:r>
            <a:r>
              <a:rPr lang="en" sz="1200"/>
              <a:t> Hooks must be called at the top level of a function component or inside a custom hook. They should not be called in loops, conditions or nested functions.</a:t>
            </a:r>
            <a:endParaRPr lang="en-US"/>
          </a:p>
          <a:p>
            <a:pPr marL="285750" indent="-171450">
              <a:lnSpc>
                <a:spcPct val="114999"/>
              </a:lnSpc>
              <a:buFont typeface="Wingdings"/>
              <a:buChar char="Ø"/>
            </a:pPr>
            <a:r>
              <a:rPr lang="en" sz="1200" b="1"/>
              <a:t>Use Hooks in the Same Order:</a:t>
            </a:r>
            <a:r>
              <a:rPr lang="en" sz="1200"/>
              <a:t> Hooks must be called in the same order on every render of a component. This ensures that the state of the component is consistent across renders.</a:t>
            </a:r>
          </a:p>
          <a:p>
            <a:pPr marL="285750" indent="-171450">
              <a:lnSpc>
                <a:spcPct val="114999"/>
              </a:lnSpc>
              <a:buFont typeface="Wingdings"/>
              <a:buChar char="Ø"/>
            </a:pPr>
            <a:r>
              <a:rPr lang="en" sz="1200" b="1"/>
              <a:t>Don’t Call Hooks Conditionally: </a:t>
            </a:r>
            <a:r>
              <a:rPr lang="en" sz="1200"/>
              <a:t>Hooks must be called unconditionally in a function component. They cannot be called conditionally because that would break the rules of calling Hooks in the same order on every render.</a:t>
            </a:r>
          </a:p>
          <a:p>
            <a:pPr marL="285750" indent="-171450">
              <a:lnSpc>
                <a:spcPct val="114999"/>
              </a:lnSpc>
              <a:buFont typeface="Wingdings"/>
              <a:buChar char="Ø"/>
            </a:pPr>
            <a:r>
              <a:rPr lang="en" sz="1200" b="1"/>
              <a:t>Name Your Custom Hooks Correctly: </a:t>
            </a:r>
            <a:r>
              <a:rPr lang="en" sz="1200"/>
              <a:t>Custom hooks should be prefixed with "use" to make it clear that they are  hooks. This convention is important for readability and to ensure that React knows that it is a hook.</a:t>
            </a:r>
          </a:p>
          <a:p>
            <a:pPr marL="285750" indent="-171450">
              <a:lnSpc>
                <a:spcPct val="114999"/>
              </a:lnSpc>
              <a:buFont typeface="Wingdings"/>
              <a:buChar char="Ø"/>
            </a:pPr>
            <a:r>
              <a:rPr lang="en" sz="1200" b="1"/>
              <a:t>Don't Modify State Directly:</a:t>
            </a:r>
            <a:r>
              <a:rPr lang="en" sz="1200"/>
              <a:t> State variables should never be modified directly. Always use the state updater function returned by the </a:t>
            </a:r>
            <a:r>
              <a:rPr lang="en" sz="1200" b="1" err="1">
                <a:latin typeface="Consolas"/>
              </a:rPr>
              <a:t>useState</a:t>
            </a:r>
            <a:r>
              <a:rPr lang="en" sz="1200"/>
              <a:t> hook.</a:t>
            </a:r>
            <a:endParaRPr lang="en"/>
          </a:p>
          <a:p>
            <a:pPr marL="285750" indent="-171450">
              <a:lnSpc>
                <a:spcPct val="114999"/>
              </a:lnSpc>
              <a:buFont typeface="Wingdings"/>
              <a:buChar char="Ø"/>
            </a:pPr>
            <a:r>
              <a:rPr lang="en" sz="1200" b="1"/>
              <a:t>Use the </a:t>
            </a:r>
            <a:r>
              <a:rPr lang="en" sz="1200" b="1" err="1"/>
              <a:t>ESLint</a:t>
            </a:r>
            <a:r>
              <a:rPr lang="en" sz="1200" b="1"/>
              <a:t> Plugin:</a:t>
            </a:r>
            <a:r>
              <a:rPr lang="en" sz="1200"/>
              <a:t> The </a:t>
            </a:r>
            <a:r>
              <a:rPr lang="en" sz="1200" err="1"/>
              <a:t>eslint</a:t>
            </a:r>
            <a:r>
              <a:rPr lang="en" sz="1200"/>
              <a:t>-plugin-react-hooks plugin can help detect any violations of the rules of Hooks, and is highly recommended to use.</a:t>
            </a:r>
            <a:endParaRPr lang="en"/>
          </a:p>
          <a:p>
            <a:pPr marL="285750" indent="-285750">
              <a:lnSpc>
                <a:spcPct val="114999"/>
              </a:lnSpc>
            </a:pPr>
            <a:endParaRPr lang="en" sz="1200"/>
          </a:p>
          <a:p>
            <a:pPr marL="0" indent="0">
              <a:spcBef>
                <a:spcPts val="1200"/>
              </a:spcBef>
              <a:spcAft>
                <a:spcPts val="1200"/>
              </a:spcAft>
              <a:buSzPts val="770"/>
              <a:buNone/>
            </a:pPr>
            <a:endParaRPr lang="en" sz="1110"/>
          </a:p>
        </p:txBody>
      </p:sp>
    </p:spTree>
    <p:extLst>
      <p:ext uri="{BB962C8B-B14F-4D97-AF65-F5344CB8AC3E}">
        <p14:creationId xmlns:p14="http://schemas.microsoft.com/office/powerpoint/2010/main" val="175497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a:t>Types of Hooks:</a:t>
            </a:r>
            <a:endParaRPr lang="en-US"/>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528964" y="1090175"/>
            <a:ext cx="8036675" cy="3276543"/>
          </a:xfrm>
          <a:prstGeom prst="rect">
            <a:avLst/>
          </a:prstGeom>
        </p:spPr>
        <p:txBody>
          <a:bodyPr spcFirstLastPara="1" wrap="square" lIns="91425" tIns="91425" rIns="91425" bIns="91425" anchor="t" anchorCtr="0">
            <a:noAutofit/>
          </a:bodyPr>
          <a:lstStyle/>
          <a:p>
            <a:pPr marL="342900" indent="-228600">
              <a:lnSpc>
                <a:spcPct val="114999"/>
              </a:lnSpc>
              <a:buAutoNum type="arabicPeriod"/>
            </a:pPr>
            <a:r>
              <a:rPr lang="en" sz="1200" b="1"/>
              <a:t>Built-in Hooks:</a:t>
            </a:r>
            <a:endParaRPr lang="en" sz="1200"/>
          </a:p>
          <a:p>
            <a:pPr marL="939800" lvl="1" indent="-342900">
              <a:lnSpc>
                <a:spcPct val="114999"/>
              </a:lnSpc>
              <a:buAutoNum type="alphaLcParenR"/>
            </a:pPr>
            <a:r>
              <a:rPr lang="en" sz="1200"/>
              <a:t>Basic Hooks</a:t>
            </a:r>
            <a:endParaRPr lang="en-US" sz="1200"/>
          </a:p>
          <a:p>
            <a:pPr marL="1397000" lvl="2" indent="-342900" algn="just">
              <a:lnSpc>
                <a:spcPct val="114999"/>
              </a:lnSpc>
              <a:buAutoNum type="romanUcPeriod"/>
            </a:pPr>
            <a:r>
              <a:rPr lang="en" sz="1200" err="1"/>
              <a:t>useState</a:t>
            </a:r>
          </a:p>
          <a:p>
            <a:pPr marL="1397000" lvl="2" indent="-342900" algn="just">
              <a:lnSpc>
                <a:spcPct val="114999"/>
              </a:lnSpc>
              <a:buAutoNum type="romanUcPeriod"/>
            </a:pPr>
            <a:r>
              <a:rPr lang="en" sz="1200" err="1"/>
              <a:t>useEffect</a:t>
            </a:r>
          </a:p>
          <a:p>
            <a:pPr marL="1397000" lvl="2" indent="-342900" algn="just">
              <a:lnSpc>
                <a:spcPct val="114999"/>
              </a:lnSpc>
              <a:buAutoNum type="romanUcPeriod"/>
            </a:pPr>
            <a:r>
              <a:rPr lang="en" sz="1200" err="1"/>
              <a:t>useContext</a:t>
            </a:r>
            <a:endParaRPr lang="en-US" sz="1200" err="1"/>
          </a:p>
          <a:p>
            <a:pPr marL="939800" lvl="1" indent="-342900" algn="just">
              <a:lnSpc>
                <a:spcPct val="114999"/>
              </a:lnSpc>
              <a:buAutoNum type="alphaLcParenR"/>
            </a:pPr>
            <a:r>
              <a:rPr lang="en" sz="1200"/>
              <a:t>Additional Hooks</a:t>
            </a:r>
            <a:endParaRPr lang="en-US" sz="1200"/>
          </a:p>
          <a:p>
            <a:pPr marL="1397000" lvl="2" indent="-342900" algn="just">
              <a:lnSpc>
                <a:spcPct val="114999"/>
              </a:lnSpc>
              <a:buAutoNum type="romanUcPeriod"/>
            </a:pPr>
            <a:r>
              <a:rPr lang="en" sz="1200" err="1"/>
              <a:t>useReducer</a:t>
            </a:r>
            <a:endParaRPr lang="en" sz="1200"/>
          </a:p>
          <a:p>
            <a:pPr marL="1397000" lvl="2" indent="-342900" algn="just">
              <a:lnSpc>
                <a:spcPct val="114999"/>
              </a:lnSpc>
              <a:buAutoNum type="romanUcPeriod"/>
            </a:pPr>
            <a:r>
              <a:rPr lang="en" sz="1200" err="1"/>
              <a:t>useMemo</a:t>
            </a:r>
            <a:endParaRPr lang="en" sz="1200"/>
          </a:p>
          <a:p>
            <a:pPr marL="1397000" lvl="2" indent="-342900" algn="just">
              <a:lnSpc>
                <a:spcPct val="114999"/>
              </a:lnSpc>
              <a:buAutoNum type="romanUcPeriod"/>
            </a:pPr>
            <a:r>
              <a:rPr lang="en" sz="1200" err="1"/>
              <a:t>useCallback</a:t>
            </a:r>
            <a:endParaRPr lang="en" sz="1200"/>
          </a:p>
          <a:p>
            <a:pPr marL="1397000" lvl="2" indent="-342900" algn="just">
              <a:lnSpc>
                <a:spcPct val="114999"/>
              </a:lnSpc>
              <a:buAutoNum type="romanUcPeriod"/>
            </a:pPr>
            <a:r>
              <a:rPr lang="en" sz="1200" err="1"/>
              <a:t>useRef</a:t>
            </a:r>
            <a:endParaRPr lang="en" sz="1200"/>
          </a:p>
          <a:p>
            <a:pPr marL="1397000" lvl="2" indent="-342900" algn="just">
              <a:lnSpc>
                <a:spcPct val="114999"/>
              </a:lnSpc>
              <a:buAutoNum type="romanUcPeriod"/>
            </a:pPr>
            <a:r>
              <a:rPr lang="en" sz="1200" err="1"/>
              <a:t>useImperativeHandle</a:t>
            </a:r>
            <a:endParaRPr lang="en" sz="1200"/>
          </a:p>
          <a:p>
            <a:pPr marL="1397000" lvl="2" indent="-342900" algn="just">
              <a:lnSpc>
                <a:spcPct val="114999"/>
              </a:lnSpc>
              <a:buAutoNum type="romanUcPeriod"/>
            </a:pPr>
            <a:r>
              <a:rPr lang="en" sz="1200" err="1"/>
              <a:t>useDebugValue</a:t>
            </a:r>
            <a:endParaRPr lang="en" sz="1200"/>
          </a:p>
          <a:p>
            <a:pPr marL="1397000" lvl="2" indent="-342900" algn="just">
              <a:lnSpc>
                <a:spcPct val="114999"/>
              </a:lnSpc>
              <a:buAutoNum type="romanUcPeriod"/>
            </a:pPr>
            <a:r>
              <a:rPr lang="en" sz="1200" err="1"/>
              <a:t>useLayoutEffect</a:t>
            </a:r>
            <a:endParaRPr lang="en-US" sz="1200" err="1"/>
          </a:p>
          <a:p>
            <a:pPr marL="342900" indent="-228600">
              <a:lnSpc>
                <a:spcPct val="114999"/>
              </a:lnSpc>
              <a:buAutoNum type="arabicPeriod"/>
            </a:pPr>
            <a:endParaRPr lang="en" sz="1200" b="1"/>
          </a:p>
          <a:p>
            <a:pPr marL="342900" indent="-228600">
              <a:lnSpc>
                <a:spcPct val="114999"/>
              </a:lnSpc>
              <a:buAutoNum type="arabicPeriod"/>
            </a:pPr>
            <a:r>
              <a:rPr lang="en" sz="1200" b="1"/>
              <a:t>Custom Hooks : </a:t>
            </a:r>
            <a:r>
              <a:rPr lang="en" sz="1200"/>
              <a:t>A custom Hook is basically a JavaScript function. Its name begins with "use" that could invoke other Hooks. </a:t>
            </a:r>
          </a:p>
          <a:p>
            <a:pPr marL="1054100" lvl="2" indent="0" algn="just">
              <a:lnSpc>
                <a:spcPct val="114999"/>
              </a:lnSpc>
              <a:buSzPts val="1800"/>
              <a:buNone/>
            </a:pPr>
            <a:endParaRPr lang="en" sz="1100"/>
          </a:p>
          <a:p>
            <a:pPr lvl="2" algn="just">
              <a:lnSpc>
                <a:spcPct val="114999"/>
              </a:lnSpc>
            </a:pPr>
            <a:endParaRPr lang="en" sz="1600"/>
          </a:p>
          <a:p>
            <a:pPr lvl="2" algn="just">
              <a:lnSpc>
                <a:spcPct val="114999"/>
              </a:lnSpc>
            </a:pPr>
            <a:endParaRPr lang="en" sz="1600"/>
          </a:p>
          <a:p>
            <a:pPr lvl="2" algn="just">
              <a:lnSpc>
                <a:spcPct val="114999"/>
              </a:lnSpc>
            </a:pPr>
            <a:endParaRPr lang="en" sz="600"/>
          </a:p>
          <a:p>
            <a:pPr lvl="2">
              <a:lnSpc>
                <a:spcPct val="114999"/>
              </a:lnSpc>
            </a:pPr>
            <a:endParaRPr lang="en" sz="800"/>
          </a:p>
          <a:p>
            <a:pPr marL="285750" indent="-285750">
              <a:lnSpc>
                <a:spcPct val="114999"/>
              </a:lnSpc>
            </a:pPr>
            <a:endParaRPr lang="en" sz="1200"/>
          </a:p>
          <a:p>
            <a:pPr marL="0" indent="0">
              <a:spcBef>
                <a:spcPts val="1200"/>
              </a:spcBef>
              <a:spcAft>
                <a:spcPts val="1200"/>
              </a:spcAft>
              <a:buSzPts val="770"/>
              <a:buNone/>
            </a:pPr>
            <a:endParaRPr lang="en" sz="1110"/>
          </a:p>
        </p:txBody>
      </p:sp>
    </p:spTree>
    <p:extLst>
      <p:ext uri="{BB962C8B-B14F-4D97-AF65-F5344CB8AC3E}">
        <p14:creationId xmlns:p14="http://schemas.microsoft.com/office/powerpoint/2010/main" val="3015202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b="1" dirty="0" err="1"/>
              <a:t>useState</a:t>
            </a:r>
            <a:r>
              <a:rPr lang="en" b="1" dirty="0"/>
              <a:t> overview</a:t>
            </a:r>
          </a:p>
        </p:txBody>
      </p:sp>
      <p:sp>
        <p:nvSpPr>
          <p:cNvPr id="93" name="Google Shape;93;p14"/>
          <p:cNvSpPr txBox="1">
            <a:spLocks noGrp="1"/>
          </p:cNvSpPr>
          <p:nvPr>
            <p:ph type="body" idx="1"/>
          </p:nvPr>
        </p:nvSpPr>
        <p:spPr>
          <a:xfrm>
            <a:off x="528964" y="1090175"/>
            <a:ext cx="7795197" cy="3276543"/>
          </a:xfrm>
          <a:prstGeom prst="rect">
            <a:avLst/>
          </a:prstGeom>
        </p:spPr>
        <p:txBody>
          <a:bodyPr spcFirstLastPara="1" wrap="square" lIns="91425" tIns="91425" rIns="91425" bIns="91425" anchor="t" anchorCtr="0">
            <a:noAutofit/>
          </a:bodyPr>
          <a:lstStyle/>
          <a:p>
            <a:pPr marL="0" indent="0">
              <a:buSzPts val="770"/>
              <a:buNone/>
            </a:pPr>
            <a:r>
              <a:rPr lang="en" sz="1600"/>
              <a:t>The </a:t>
            </a:r>
            <a:r>
              <a:rPr lang="en" sz="1600" err="1"/>
              <a:t>useState</a:t>
            </a:r>
            <a:r>
              <a:rPr lang="en" sz="1600"/>
              <a:t> hook allows us to add state to a functional component in React. The </a:t>
            </a:r>
            <a:r>
              <a:rPr lang="en" sz="1600" err="1"/>
              <a:t>useState</a:t>
            </a:r>
            <a:r>
              <a:rPr lang="en" sz="1600"/>
              <a:t> accepts an initial state and returns two values  - the current state and a function that updates the state.</a:t>
            </a:r>
          </a:p>
          <a:p>
            <a:pPr marL="0" indent="0">
              <a:lnSpc>
                <a:spcPct val="114999"/>
              </a:lnSpc>
              <a:buSzPts val="770"/>
              <a:buNone/>
            </a:pPr>
            <a:endParaRPr lang="en" sz="1600"/>
          </a:p>
          <a:p>
            <a:pPr marL="0" indent="0">
              <a:lnSpc>
                <a:spcPct val="114999"/>
              </a:lnSpc>
              <a:buSzPts val="770"/>
              <a:buNone/>
            </a:pPr>
            <a:r>
              <a:rPr lang="en" sz="1600"/>
              <a:t>The </a:t>
            </a:r>
            <a:r>
              <a:rPr lang="en" sz="1600" err="1"/>
              <a:t>useState</a:t>
            </a:r>
            <a:r>
              <a:rPr lang="en" sz="1600"/>
              <a:t> hook can hold any type of values – strings, numbers, </a:t>
            </a:r>
            <a:r>
              <a:rPr lang="en" sz="1600" err="1"/>
              <a:t>boolean</a:t>
            </a:r>
            <a:r>
              <a:rPr lang="en" sz="1600"/>
              <a:t>, array, objects and any combination of these.</a:t>
            </a:r>
          </a:p>
          <a:p>
            <a:pPr marL="0" lvl="0" indent="0" algn="l">
              <a:lnSpc>
                <a:spcPct val="114999"/>
              </a:lnSpc>
              <a:buSzPts val="770"/>
              <a:buNone/>
            </a:pPr>
            <a:endParaRPr lang="en" sz="1600"/>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158699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b="1" dirty="0" err="1"/>
              <a:t>useEffect</a:t>
            </a:r>
            <a:r>
              <a:rPr lang="en" b="1" dirty="0"/>
              <a:t> overview</a:t>
            </a:r>
          </a:p>
        </p:txBody>
      </p:sp>
      <p:sp>
        <p:nvSpPr>
          <p:cNvPr id="93" name="Google Shape;93;p14"/>
          <p:cNvSpPr txBox="1">
            <a:spLocks noGrp="1"/>
          </p:cNvSpPr>
          <p:nvPr>
            <p:ph type="body" idx="1"/>
          </p:nvPr>
        </p:nvSpPr>
        <p:spPr>
          <a:xfrm>
            <a:off x="505151" y="1010800"/>
            <a:ext cx="7795197" cy="3681355"/>
          </a:xfrm>
          <a:prstGeom prst="rect">
            <a:avLst/>
          </a:prstGeom>
        </p:spPr>
        <p:txBody>
          <a:bodyPr spcFirstLastPara="1" wrap="square" lIns="91425" tIns="91425" rIns="91425" bIns="91425" anchor="t" anchorCtr="0">
            <a:noAutofit/>
          </a:bodyPr>
          <a:lstStyle/>
          <a:p>
            <a:pPr marL="0" indent="0">
              <a:buSzPts val="770"/>
              <a:buNone/>
            </a:pPr>
            <a:r>
              <a:rPr lang="en" sz="1600" err="1"/>
              <a:t>Everytime</a:t>
            </a:r>
            <a:r>
              <a:rPr lang="en" sz="1600"/>
              <a:t> we need to reach outside our React component and do something, we perform a side effect. Side effects are unpredictable because they are actions performed with the outside world. A common side effect is making an API call to fetch data from a backend server. </a:t>
            </a:r>
          </a:p>
          <a:p>
            <a:pPr marL="0" indent="0">
              <a:lnSpc>
                <a:spcPct val="114999"/>
              </a:lnSpc>
              <a:buSzPts val="770"/>
              <a:buNone/>
            </a:pPr>
            <a:endParaRPr lang="en" sz="1600"/>
          </a:p>
          <a:p>
            <a:pPr marL="0" indent="0">
              <a:lnSpc>
                <a:spcPct val="114999"/>
              </a:lnSpc>
              <a:buSzPts val="770"/>
              <a:buNone/>
            </a:pPr>
            <a:r>
              <a:rPr lang="en" sz="1600"/>
              <a:t>The </a:t>
            </a:r>
            <a:r>
              <a:rPr lang="en" sz="1600" err="1"/>
              <a:t>useEffect</a:t>
            </a:r>
            <a:r>
              <a:rPr lang="en" sz="1600"/>
              <a:t> hook provides a way to handle performing these side effects. Side effects should always be separated from the rendering process. It should be done strictly after the component renders. </a:t>
            </a:r>
          </a:p>
          <a:p>
            <a:pPr marL="0" indent="0">
              <a:lnSpc>
                <a:spcPct val="114999"/>
              </a:lnSpc>
              <a:buNone/>
            </a:pPr>
            <a:r>
              <a:rPr lang="en" sz="1600"/>
              <a:t>The syntax is </a:t>
            </a:r>
            <a:r>
              <a:rPr lang="en" sz="1600" b="1" err="1"/>
              <a:t>useEffect</a:t>
            </a:r>
            <a:r>
              <a:rPr lang="en" sz="1600" b="1"/>
              <a:t>(() =&gt; {}, [])</a:t>
            </a:r>
            <a:endParaRPr lang="en-US" sz="1600"/>
          </a:p>
          <a:p>
            <a:pPr marL="0" indent="0">
              <a:lnSpc>
                <a:spcPct val="114999"/>
              </a:lnSpc>
              <a:buNone/>
            </a:pPr>
            <a:r>
              <a:rPr lang="en" sz="1600"/>
              <a:t>The first argument is a callback function. The second argument is an array, called the dependency array.</a:t>
            </a:r>
            <a:endParaRPr lang="en"/>
          </a:p>
          <a:p>
            <a:pPr marL="0" indent="0">
              <a:lnSpc>
                <a:spcPct val="114999"/>
              </a:lnSpc>
              <a:buSzPts val="770"/>
              <a:buNone/>
            </a:pPr>
            <a:endParaRPr lang="en" sz="1600" b="1"/>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621253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b="1" dirty="0" err="1"/>
              <a:t>useEffect</a:t>
            </a:r>
            <a:r>
              <a:rPr lang="en" b="1" dirty="0"/>
              <a:t> overview</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SzPts val="770"/>
              <a:buNone/>
            </a:pPr>
            <a:r>
              <a:rPr lang="en" sz="1600"/>
              <a:t>Inside the callback function we perform our side effects. The dependency array contains all the values that the side effect relies on. </a:t>
            </a:r>
            <a:endParaRPr lang="en-US"/>
          </a:p>
          <a:p>
            <a:pPr marL="0" indent="0">
              <a:lnSpc>
                <a:spcPct val="114999"/>
              </a:lnSpc>
              <a:buSzPts val="770"/>
              <a:buNone/>
            </a:pPr>
            <a:r>
              <a:rPr lang="en" sz="1600" b="1"/>
              <a:t>Without the dependency array there will be an infinite loop, causing the application to break.</a:t>
            </a:r>
            <a:endParaRPr lang="en" sz="1600"/>
          </a:p>
          <a:p>
            <a:pPr marL="0" indent="0">
              <a:lnSpc>
                <a:spcPct val="114999"/>
              </a:lnSpc>
              <a:buNone/>
            </a:pPr>
            <a:r>
              <a:rPr lang="en" sz="1600"/>
              <a:t>If we forget to provide the dependencies correctly and we are setting a piece of local state when the state is updated, the default behavior of React is to re-render the component. And therefore, since </a:t>
            </a:r>
            <a:r>
              <a:rPr lang="en" sz="1600" err="1"/>
              <a:t>useEffect</a:t>
            </a:r>
            <a:r>
              <a:rPr lang="en" sz="1600"/>
              <a:t> runs after every single render without the dependencies array, we will have an infinite loop.</a:t>
            </a:r>
            <a:endParaRPr lang="en"/>
          </a:p>
          <a:p>
            <a:pPr marL="0" indent="0">
              <a:lnSpc>
                <a:spcPct val="114999"/>
              </a:lnSpc>
              <a:buNone/>
            </a:pPr>
            <a:r>
              <a:rPr lang="en" sz="1600"/>
              <a:t>Whenever we write a </a:t>
            </a:r>
            <a:r>
              <a:rPr lang="en" sz="1600" err="1"/>
              <a:t>useEffect</a:t>
            </a:r>
            <a:r>
              <a:rPr lang="en" sz="1600"/>
              <a:t>, provide an empty dependency array by default. An empty dependency array causes the effect function to run only once after the component has rendered the first time.</a:t>
            </a:r>
          </a:p>
          <a:p>
            <a:pPr marL="0" indent="0">
              <a:lnSpc>
                <a:spcPct val="114999"/>
              </a:lnSpc>
              <a:buSzPts val="770"/>
              <a:buNone/>
            </a:pPr>
            <a:endParaRPr lang="en" sz="1600"/>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424199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err="1"/>
              <a:t>useContext</a:t>
            </a:r>
            <a:r>
              <a:rPr lang="en" b="1"/>
              <a:t> overview:</a:t>
            </a:r>
            <a:endParaRPr lang="en-US"/>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528964" y="1090175"/>
            <a:ext cx="8036675" cy="3276543"/>
          </a:xfrm>
          <a:prstGeom prst="rect">
            <a:avLst/>
          </a:prstGeom>
        </p:spPr>
        <p:txBody>
          <a:bodyPr spcFirstLastPara="1" wrap="square" lIns="91425" tIns="91425" rIns="91425" bIns="91425" anchor="t" anchorCtr="0">
            <a:noAutofit/>
          </a:bodyPr>
          <a:lstStyle/>
          <a:p>
            <a:pPr marL="285750" indent="-171450">
              <a:lnSpc>
                <a:spcPct val="114999"/>
              </a:lnSpc>
              <a:buFont typeface="Wingdings"/>
              <a:buChar char="Ø"/>
            </a:pPr>
            <a:r>
              <a:rPr lang="en" sz="1400" b="1" err="1">
                <a:latin typeface="Consolas"/>
              </a:rPr>
              <a:t>userContext</a:t>
            </a:r>
            <a:r>
              <a:rPr lang="en" sz="1400"/>
              <a:t> is a feature that allows you to pass data through the component tree without having to pass props down manually at every level. It provides a way to share information between components that are not directly connected by the parent-child relationship.</a:t>
            </a:r>
            <a:endParaRPr lang="en-US" sz="1400"/>
          </a:p>
          <a:p>
            <a:pPr marL="285750" indent="-171450">
              <a:lnSpc>
                <a:spcPct val="114999"/>
              </a:lnSpc>
              <a:buFont typeface="Wingdings"/>
              <a:buChar char="Ø"/>
            </a:pPr>
            <a:endParaRPr lang="en" sz="1400"/>
          </a:p>
          <a:p>
            <a:pPr marL="285750" indent="-171450">
              <a:lnSpc>
                <a:spcPct val="114999"/>
              </a:lnSpc>
              <a:buFont typeface="Wingdings"/>
              <a:buChar char="Ø"/>
            </a:pPr>
            <a:r>
              <a:rPr lang="en" sz="1400" b="1" err="1">
                <a:latin typeface="Consolas"/>
              </a:rPr>
              <a:t>userContext</a:t>
            </a:r>
            <a:r>
              <a:rPr lang="en" sz="1400"/>
              <a:t> is often used to manage global state or theme settings in a React application. It can be especially useful when you have many components that need access to the same data, or when you have deeply nested components that would require many layers of props to pass down.</a:t>
            </a:r>
          </a:p>
          <a:p>
            <a:pPr marL="0" indent="0">
              <a:lnSpc>
                <a:spcPct val="114999"/>
              </a:lnSpc>
              <a:buNone/>
            </a:pPr>
            <a:endParaRPr lang="en" sz="1200"/>
          </a:p>
          <a:p>
            <a:pPr marL="0" indent="0">
              <a:spcBef>
                <a:spcPts val="1200"/>
              </a:spcBef>
              <a:spcAft>
                <a:spcPts val="1200"/>
              </a:spcAft>
              <a:buSzPts val="770"/>
              <a:buNone/>
            </a:pPr>
            <a:endParaRPr lang="en" sz="1110"/>
          </a:p>
        </p:txBody>
      </p:sp>
      <p:pic>
        <p:nvPicPr>
          <p:cNvPr id="2" name="Picture 2" descr="Diagram&#10;&#10;Description automatically generated">
            <a:extLst>
              <a:ext uri="{FF2B5EF4-FFF2-40B4-BE49-F238E27FC236}">
                <a16:creationId xmlns:a16="http://schemas.microsoft.com/office/drawing/2014/main" id="{CA404798-A711-0F39-1CB1-0306BC4F828A}"/>
              </a:ext>
            </a:extLst>
          </p:cNvPr>
          <p:cNvPicPr>
            <a:picLocks noChangeAspect="1"/>
          </p:cNvPicPr>
          <p:nvPr/>
        </p:nvPicPr>
        <p:blipFill rotWithShape="1">
          <a:blip r:embed="rId3"/>
          <a:srcRect l="14501" t="26882" r="7855" b="14295"/>
          <a:stretch/>
        </p:blipFill>
        <p:spPr>
          <a:xfrm>
            <a:off x="2090530" y="3084029"/>
            <a:ext cx="4026637" cy="1719361"/>
          </a:xfrm>
          <a:prstGeom prst="rect">
            <a:avLst/>
          </a:prstGeom>
        </p:spPr>
      </p:pic>
    </p:spTree>
    <p:extLst>
      <p:ext uri="{BB962C8B-B14F-4D97-AF65-F5344CB8AC3E}">
        <p14:creationId xmlns:p14="http://schemas.microsoft.com/office/powerpoint/2010/main" val="160896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err="1"/>
              <a:t>useReducer</a:t>
            </a:r>
            <a:r>
              <a:rPr lang="en" b="1"/>
              <a:t> overview:</a:t>
            </a:r>
            <a:endParaRPr lang="en-US"/>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528964" y="1090175"/>
            <a:ext cx="8036675" cy="3276543"/>
          </a:xfrm>
          <a:prstGeom prst="rect">
            <a:avLst/>
          </a:prstGeom>
        </p:spPr>
        <p:txBody>
          <a:bodyPr spcFirstLastPara="1" wrap="square" lIns="91425" tIns="91425" rIns="91425" bIns="91425" anchor="t" anchorCtr="0">
            <a:noAutofit/>
          </a:bodyPr>
          <a:lstStyle/>
          <a:p>
            <a:pPr marL="285750" indent="-171450">
              <a:lnSpc>
                <a:spcPct val="114999"/>
              </a:lnSpc>
              <a:buFont typeface="Wingdings"/>
              <a:buChar char="Ø"/>
            </a:pPr>
            <a:r>
              <a:rPr lang="en" sz="1400" b="1" err="1">
                <a:latin typeface="Consolas"/>
              </a:rPr>
              <a:t>useReducer</a:t>
            </a:r>
            <a:r>
              <a:rPr lang="en" sz="1400" b="1">
                <a:latin typeface="Consolas"/>
              </a:rPr>
              <a:t> </a:t>
            </a:r>
            <a:r>
              <a:rPr lang="en" sz="1400">
                <a:latin typeface="Arial Nova"/>
              </a:rPr>
              <a:t>is a hook that is used to do state management.</a:t>
            </a:r>
            <a:endParaRPr lang="en" sz="1400" b="1">
              <a:latin typeface="Arial Nova"/>
            </a:endParaRPr>
          </a:p>
          <a:p>
            <a:pPr marL="285750" indent="-171450">
              <a:lnSpc>
                <a:spcPct val="114999"/>
              </a:lnSpc>
              <a:buFont typeface="Wingdings"/>
              <a:buChar char="Ø"/>
            </a:pPr>
            <a:r>
              <a:rPr lang="en" sz="1400"/>
              <a:t> It is an alternative to the </a:t>
            </a:r>
            <a:r>
              <a:rPr lang="en" sz="1400" b="1" err="1">
                <a:latin typeface="Consolas"/>
              </a:rPr>
              <a:t>useState</a:t>
            </a:r>
            <a:r>
              <a:rPr lang="en" sz="1400"/>
              <a:t> hook, which can be useful in certain scenarios where state management is more complex.</a:t>
            </a:r>
            <a:endParaRPr lang="en" sz="1400">
              <a:latin typeface="Consolas"/>
            </a:endParaRPr>
          </a:p>
          <a:p>
            <a:pPr marL="285750" indent="-171450">
              <a:lnSpc>
                <a:spcPct val="114999"/>
              </a:lnSpc>
              <a:buFont typeface="Wingdings"/>
              <a:buChar char="Ø"/>
            </a:pPr>
            <a:r>
              <a:rPr lang="en" sz="1400" b="1" err="1">
                <a:latin typeface="Consolas"/>
              </a:rPr>
              <a:t>useReducer</a:t>
            </a:r>
            <a:r>
              <a:rPr lang="en" sz="1400"/>
              <a:t> takes two arguments: a reducer function and an initial state value. The reducer function takes two arguments, the current state and an action object that describes how to update the state. It returns the new state after applying the update specified in the action.</a:t>
            </a:r>
          </a:p>
          <a:p>
            <a:pPr marL="285750" indent="-171450">
              <a:lnSpc>
                <a:spcPct val="114999"/>
              </a:lnSpc>
              <a:buFont typeface="Wingdings"/>
              <a:buChar char="Ø"/>
            </a:pPr>
            <a:r>
              <a:rPr lang="en" sz="1400"/>
              <a:t>The </a:t>
            </a:r>
            <a:r>
              <a:rPr lang="en" sz="1400" b="1" err="1">
                <a:latin typeface="Consolas"/>
              </a:rPr>
              <a:t>useReducer</a:t>
            </a:r>
            <a:r>
              <a:rPr lang="en" sz="1400"/>
              <a:t> hook returns an array with two values: the current state and a dispatch function. The dispatch function is used to update the state and triggers a re-render of the component.</a:t>
            </a:r>
          </a:p>
          <a:p>
            <a:pPr marL="114300" indent="0">
              <a:lnSpc>
                <a:spcPct val="114999"/>
              </a:lnSpc>
              <a:buNone/>
            </a:pPr>
            <a:r>
              <a:rPr lang="en" sz="1400"/>
              <a:t>    Syntax, </a:t>
            </a:r>
            <a:br>
              <a:rPr lang="en" sz="1400"/>
            </a:br>
            <a:r>
              <a:rPr lang="en" sz="1400" b="1"/>
              <a:t>                      </a:t>
            </a:r>
            <a:r>
              <a:rPr lang="en" sz="1400" b="1" err="1"/>
              <a:t>useReducer</a:t>
            </a:r>
            <a:r>
              <a:rPr lang="en" sz="1400" b="1"/>
              <a:t>(reducer, </a:t>
            </a:r>
            <a:r>
              <a:rPr lang="en" sz="1400" b="1" err="1"/>
              <a:t>initialState</a:t>
            </a:r>
            <a:r>
              <a:rPr lang="en" sz="1400" b="1"/>
              <a:t>)</a:t>
            </a:r>
            <a:endParaRPr lang="en" sz="1400"/>
          </a:p>
          <a:p>
            <a:pPr marL="114300" indent="0">
              <a:lnSpc>
                <a:spcPct val="114999"/>
              </a:lnSpc>
              <a:buNone/>
            </a:pPr>
            <a:r>
              <a:rPr lang="en" sz="1400" b="1"/>
              <a:t>                      </a:t>
            </a:r>
            <a:r>
              <a:rPr lang="en" sz="1400" b="1" err="1"/>
              <a:t>NewState</a:t>
            </a:r>
            <a:r>
              <a:rPr lang="en" sz="1400" b="1"/>
              <a:t> = reducer(</a:t>
            </a:r>
            <a:r>
              <a:rPr lang="en" sz="1400" b="1" err="1"/>
              <a:t>currentState</a:t>
            </a:r>
            <a:r>
              <a:rPr lang="en" sz="1400" b="1"/>
              <a:t>, action)</a:t>
            </a:r>
          </a:p>
          <a:p>
            <a:pPr marL="285750" indent="-171450">
              <a:lnSpc>
                <a:spcPct val="114999"/>
              </a:lnSpc>
              <a:buFont typeface="Wingdings"/>
              <a:buChar char="Ø"/>
            </a:pPr>
            <a:endParaRPr lang="en" sz="1400">
              <a:latin typeface="Consolas"/>
            </a:endParaRPr>
          </a:p>
          <a:p>
            <a:pPr marL="0" indent="0">
              <a:lnSpc>
                <a:spcPct val="114999"/>
              </a:lnSpc>
              <a:buNone/>
            </a:pPr>
            <a:endParaRPr lang="en" sz="1200"/>
          </a:p>
          <a:p>
            <a:pPr marL="0" indent="0">
              <a:spcBef>
                <a:spcPts val="1200"/>
              </a:spcBef>
              <a:spcAft>
                <a:spcPts val="1200"/>
              </a:spcAft>
              <a:buSzPts val="770"/>
              <a:buNone/>
            </a:pPr>
            <a:endParaRPr lang="en" sz="1110"/>
          </a:p>
        </p:txBody>
      </p:sp>
    </p:spTree>
    <p:extLst>
      <p:ext uri="{BB962C8B-B14F-4D97-AF65-F5344CB8AC3E}">
        <p14:creationId xmlns:p14="http://schemas.microsoft.com/office/powerpoint/2010/main" val="377677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dirty="0" err="1"/>
              <a:t>useState</a:t>
            </a:r>
            <a:r>
              <a:rPr lang="en" b="1" dirty="0"/>
              <a:t> vs </a:t>
            </a:r>
            <a:r>
              <a:rPr lang="en" b="1" dirty="0" err="1"/>
              <a:t>useReducer</a:t>
            </a:r>
            <a:r>
              <a:rPr lang="en" b="1" dirty="0"/>
              <a:t>:</a:t>
            </a:r>
            <a:endParaRPr lang="en-US" dirty="0"/>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528964" y="1090175"/>
            <a:ext cx="8036675" cy="3276543"/>
          </a:xfrm>
          <a:prstGeom prst="rect">
            <a:avLst/>
          </a:prstGeom>
        </p:spPr>
        <p:txBody>
          <a:bodyPr spcFirstLastPara="1" wrap="square" lIns="91425" tIns="91425" rIns="91425" bIns="91425" anchor="t" anchorCtr="0">
            <a:noAutofit/>
          </a:bodyPr>
          <a:lstStyle/>
          <a:p>
            <a:pPr marL="114300" indent="0">
              <a:lnSpc>
                <a:spcPct val="114999"/>
              </a:lnSpc>
              <a:buNone/>
            </a:pPr>
            <a:endParaRPr lang="en" sz="1400">
              <a:latin typeface="Arial Nova"/>
            </a:endParaRPr>
          </a:p>
          <a:p>
            <a:pPr marL="285750" indent="-171450">
              <a:lnSpc>
                <a:spcPct val="114999"/>
              </a:lnSpc>
              <a:buFont typeface="Wingdings"/>
              <a:buChar char="Ø"/>
            </a:pPr>
            <a:endParaRPr lang="en" sz="1400">
              <a:latin typeface="Consolas"/>
            </a:endParaRPr>
          </a:p>
          <a:p>
            <a:pPr marL="0" indent="0">
              <a:lnSpc>
                <a:spcPct val="114999"/>
              </a:lnSpc>
              <a:buNone/>
            </a:pPr>
            <a:endParaRPr lang="en" sz="1200"/>
          </a:p>
          <a:p>
            <a:pPr marL="0" indent="0">
              <a:spcBef>
                <a:spcPts val="1200"/>
              </a:spcBef>
              <a:spcAft>
                <a:spcPts val="1200"/>
              </a:spcAft>
              <a:buSzPts val="770"/>
              <a:buNone/>
            </a:pPr>
            <a:endParaRPr lang="en" sz="1110"/>
          </a:p>
        </p:txBody>
      </p:sp>
      <p:pic>
        <p:nvPicPr>
          <p:cNvPr id="2" name="Picture 2" descr="Table&#10;&#10;Description automatically generated">
            <a:extLst>
              <a:ext uri="{FF2B5EF4-FFF2-40B4-BE49-F238E27FC236}">
                <a16:creationId xmlns:a16="http://schemas.microsoft.com/office/drawing/2014/main" id="{08F415BA-05D2-C42D-CE64-35DF0ABD8152}"/>
              </a:ext>
            </a:extLst>
          </p:cNvPr>
          <p:cNvPicPr>
            <a:picLocks noChangeAspect="1"/>
          </p:cNvPicPr>
          <p:nvPr/>
        </p:nvPicPr>
        <p:blipFill rotWithShape="1">
          <a:blip r:embed="rId3"/>
          <a:srcRect l="12442" t="29623" r="12442" b="15548"/>
          <a:stretch/>
        </p:blipFill>
        <p:spPr>
          <a:xfrm>
            <a:off x="881271" y="1089004"/>
            <a:ext cx="6659233" cy="2779123"/>
          </a:xfrm>
          <a:prstGeom prst="rect">
            <a:avLst/>
          </a:prstGeom>
        </p:spPr>
      </p:pic>
    </p:spTree>
    <p:extLst>
      <p:ext uri="{BB962C8B-B14F-4D97-AF65-F5344CB8AC3E}">
        <p14:creationId xmlns:p14="http://schemas.microsoft.com/office/powerpoint/2010/main" val="314089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algn="just"/>
            <a:r>
              <a:rPr lang="en" b="1" err="1"/>
              <a:t>useMemo</a:t>
            </a:r>
            <a:r>
              <a:rPr lang="en" b="1"/>
              <a:t> overview:</a:t>
            </a:r>
            <a:endParaRPr lang="en-US"/>
          </a:p>
          <a:p>
            <a:pPr marL="0" lvl="0" indent="0" algn="l">
              <a:spcBef>
                <a:spcPts val="0"/>
              </a:spcBef>
              <a:spcAft>
                <a:spcPts val="0"/>
              </a:spcAft>
              <a:buNone/>
            </a:pPr>
            <a:endParaRPr lang="en"/>
          </a:p>
        </p:txBody>
      </p:sp>
      <p:sp>
        <p:nvSpPr>
          <p:cNvPr id="93" name="Google Shape;93;p14"/>
          <p:cNvSpPr txBox="1">
            <a:spLocks noGrp="1"/>
          </p:cNvSpPr>
          <p:nvPr>
            <p:ph type="body" idx="1"/>
          </p:nvPr>
        </p:nvSpPr>
        <p:spPr>
          <a:xfrm>
            <a:off x="528964" y="1090175"/>
            <a:ext cx="8036675" cy="3276543"/>
          </a:xfrm>
          <a:prstGeom prst="rect">
            <a:avLst/>
          </a:prstGeom>
        </p:spPr>
        <p:txBody>
          <a:bodyPr spcFirstLastPara="1" wrap="square" lIns="91425" tIns="91425" rIns="91425" bIns="91425" anchor="t" anchorCtr="0">
            <a:noAutofit/>
          </a:bodyPr>
          <a:lstStyle/>
          <a:p>
            <a:pPr marL="285750" indent="-171450">
              <a:lnSpc>
                <a:spcPct val="114999"/>
              </a:lnSpc>
              <a:buFont typeface="Wingdings"/>
              <a:buChar char="Ø"/>
            </a:pPr>
            <a:r>
              <a:rPr lang="en" sz="1400"/>
              <a:t>In React, </a:t>
            </a:r>
            <a:r>
              <a:rPr lang="en" sz="1400" b="1" err="1">
                <a:latin typeface="Consolas"/>
              </a:rPr>
              <a:t>useMemo</a:t>
            </a:r>
            <a:r>
              <a:rPr lang="en" sz="1400"/>
              <a:t> is a hook that can be used to optimize performance by </a:t>
            </a:r>
            <a:r>
              <a:rPr lang="en" sz="1400" err="1"/>
              <a:t>memoizing</a:t>
            </a:r>
            <a:r>
              <a:rPr lang="en" sz="1400"/>
              <a:t> the result of a function. It takes two arguments: a function that computes a value and an array of dependencies.</a:t>
            </a:r>
          </a:p>
          <a:p>
            <a:pPr marL="285750" indent="-171450">
              <a:lnSpc>
                <a:spcPct val="114999"/>
              </a:lnSpc>
              <a:buFont typeface="Wingdings"/>
              <a:buChar char="Ø"/>
            </a:pPr>
            <a:r>
              <a:rPr lang="en" sz="1400" dirty="0"/>
              <a:t> The hook returns a </a:t>
            </a:r>
            <a:r>
              <a:rPr lang="en" sz="1400" dirty="0" err="1"/>
              <a:t>memoized</a:t>
            </a:r>
            <a:r>
              <a:rPr lang="en" sz="1400" dirty="0"/>
              <a:t> value that will only be recomputed if one of the dependencies has changed.</a:t>
            </a:r>
            <a:br>
              <a:rPr lang="en" sz="1400" dirty="0"/>
            </a:br>
            <a:r>
              <a:rPr lang="en" sz="1400" b="1"/>
              <a:t>                  </a:t>
            </a:r>
          </a:p>
          <a:p>
            <a:pPr marL="285750" indent="-171450">
              <a:lnSpc>
                <a:spcPct val="114999"/>
              </a:lnSpc>
              <a:buFont typeface="Wingdings"/>
              <a:buChar char="Ø"/>
            </a:pPr>
            <a:endParaRPr lang="en" sz="1400">
              <a:latin typeface="Consolas"/>
            </a:endParaRPr>
          </a:p>
          <a:p>
            <a:pPr marL="0" indent="0">
              <a:lnSpc>
                <a:spcPct val="114999"/>
              </a:lnSpc>
              <a:buNone/>
            </a:pPr>
            <a:endParaRPr lang="en" sz="1200"/>
          </a:p>
          <a:p>
            <a:pPr marL="0" indent="0">
              <a:spcBef>
                <a:spcPts val="1200"/>
              </a:spcBef>
              <a:spcAft>
                <a:spcPts val="1200"/>
              </a:spcAft>
              <a:buSzPts val="770"/>
              <a:buNone/>
            </a:pPr>
            <a:endParaRPr lang="en" sz="1110"/>
          </a:p>
        </p:txBody>
      </p:sp>
    </p:spTree>
    <p:extLst>
      <p:ext uri="{BB962C8B-B14F-4D97-AF65-F5344CB8AC3E}">
        <p14:creationId xmlns:p14="http://schemas.microsoft.com/office/powerpoint/2010/main" val="3209357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b="1" dirty="0" err="1"/>
              <a:t>useCallback</a:t>
            </a:r>
            <a:r>
              <a:rPr lang="en" b="1" dirty="0"/>
              <a:t> overview</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 sz="1600"/>
              <a:t>The React </a:t>
            </a:r>
            <a:r>
              <a:rPr lang="en" sz="1600" err="1"/>
              <a:t>useCallback</a:t>
            </a:r>
            <a:r>
              <a:rPr lang="en" sz="1600"/>
              <a:t> Hook returns a </a:t>
            </a:r>
            <a:r>
              <a:rPr lang="en" sz="1600" err="1"/>
              <a:t>memoized</a:t>
            </a:r>
            <a:r>
              <a:rPr lang="en" sz="1600"/>
              <a:t> callback function. This allows us to isolate resource intensive functions so that they will not automatically run on every render. The </a:t>
            </a:r>
            <a:r>
              <a:rPr lang="en" sz="1600" err="1"/>
              <a:t>useCallback</a:t>
            </a:r>
            <a:r>
              <a:rPr lang="en" sz="1600"/>
              <a:t> Hook only runs when one of its dependencies update.</a:t>
            </a:r>
            <a:endParaRPr lang="en-US" sz="1600"/>
          </a:p>
          <a:p>
            <a:pPr marL="0" indent="0">
              <a:lnSpc>
                <a:spcPct val="114999"/>
              </a:lnSpc>
              <a:buNone/>
            </a:pPr>
            <a:endParaRPr lang="en" sz="1600"/>
          </a:p>
          <a:p>
            <a:pPr marL="0" indent="0">
              <a:lnSpc>
                <a:spcPct val="114999"/>
              </a:lnSpc>
              <a:buNone/>
            </a:pPr>
            <a:r>
              <a:rPr lang="en" sz="1600"/>
              <a:t>Think of </a:t>
            </a:r>
            <a:r>
              <a:rPr lang="en" sz="1600" err="1"/>
              <a:t>memoization</a:t>
            </a:r>
            <a:r>
              <a:rPr lang="en" sz="1600"/>
              <a:t> as caching a value so that it does not need to be recalculated.</a:t>
            </a:r>
          </a:p>
          <a:p>
            <a:pPr marL="0" indent="0">
              <a:lnSpc>
                <a:spcPct val="114999"/>
              </a:lnSpc>
              <a:buNone/>
            </a:pPr>
            <a:endParaRPr lang="en" sz="1600"/>
          </a:p>
          <a:p>
            <a:pPr marL="0" indent="0">
              <a:lnSpc>
                <a:spcPct val="114999"/>
              </a:lnSpc>
              <a:buNone/>
            </a:pPr>
            <a:endParaRPr lang="en" sz="1600"/>
          </a:p>
          <a:p>
            <a:pPr marL="0" indent="0">
              <a:lnSpc>
                <a:spcPct val="114999"/>
              </a:lnSpc>
              <a:buSzPts val="770"/>
              <a:buNone/>
            </a:pPr>
            <a:endParaRPr lang="en" sz="1600"/>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4111090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b="1" dirty="0" err="1"/>
              <a:t>useRef</a:t>
            </a:r>
            <a:r>
              <a:rPr lang="en" b="1" dirty="0"/>
              <a:t> overview</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 sz="1600"/>
              <a:t>The </a:t>
            </a:r>
            <a:r>
              <a:rPr lang="en" sz="1600" err="1">
                <a:latin typeface="Consolas"/>
              </a:rPr>
              <a:t>useRef</a:t>
            </a:r>
            <a:r>
              <a:rPr lang="en" sz="1600"/>
              <a:t> Hook allows us to persist values between renders. It can be used to store a mutable value that does not cause a re-render when updated.</a:t>
            </a:r>
            <a:endParaRPr lang="en"/>
          </a:p>
          <a:p>
            <a:pPr marL="0" indent="0">
              <a:lnSpc>
                <a:spcPct val="114999"/>
              </a:lnSpc>
              <a:buNone/>
            </a:pPr>
            <a:r>
              <a:rPr lang="en" sz="1600" err="1">
                <a:latin typeface="Consolas"/>
              </a:rPr>
              <a:t>useRef</a:t>
            </a:r>
            <a:r>
              <a:rPr lang="en" sz="1600">
                <a:latin typeface="Consolas"/>
              </a:rPr>
              <a:t>()</a:t>
            </a:r>
            <a:r>
              <a:rPr lang="en" sz="1600"/>
              <a:t> only returns one item. It returns an Object called </a:t>
            </a:r>
            <a:r>
              <a:rPr lang="en" sz="1600">
                <a:latin typeface="Consolas"/>
              </a:rPr>
              <a:t>current</a:t>
            </a:r>
            <a:r>
              <a:rPr lang="en" sz="1600"/>
              <a:t>.</a:t>
            </a:r>
            <a:endParaRPr lang="en"/>
          </a:p>
          <a:p>
            <a:pPr marL="0" indent="0">
              <a:lnSpc>
                <a:spcPct val="114999"/>
              </a:lnSpc>
              <a:buNone/>
            </a:pPr>
            <a:br>
              <a:rPr lang="en-US"/>
            </a:br>
            <a:endParaRPr lang="en-US"/>
          </a:p>
          <a:p>
            <a:pPr marL="0" indent="0">
              <a:lnSpc>
                <a:spcPct val="114999"/>
              </a:lnSpc>
              <a:buSzPts val="770"/>
              <a:buNone/>
            </a:pPr>
            <a:endParaRPr lang="en" sz="1600"/>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2617146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a:t>custom Hooks</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 sz="1600"/>
              <a:t>Hooks are reusable functions. When we have component logic that needs to be used by multiple components, we can extract that logic to a custom hook. </a:t>
            </a:r>
            <a:endParaRPr lang="en-US"/>
          </a:p>
          <a:p>
            <a:pPr marL="0" indent="0">
              <a:lnSpc>
                <a:spcPct val="114999"/>
              </a:lnSpc>
              <a:buNone/>
            </a:pPr>
            <a:endParaRPr lang="en" sz="1600"/>
          </a:p>
          <a:p>
            <a:pPr marL="0" indent="0">
              <a:lnSpc>
                <a:spcPct val="114999"/>
              </a:lnSpc>
              <a:buNone/>
            </a:pPr>
            <a:r>
              <a:rPr lang="en" sz="1600"/>
              <a:t>Custom hooks start with "use".</a:t>
            </a:r>
          </a:p>
          <a:p>
            <a:pPr marL="0" indent="0">
              <a:lnSpc>
                <a:spcPct val="114999"/>
              </a:lnSpc>
              <a:buNone/>
            </a:pPr>
            <a:br>
              <a:rPr lang="en-US"/>
            </a:br>
            <a:endParaRPr lang="en-US"/>
          </a:p>
          <a:p>
            <a:pPr marL="0" indent="0">
              <a:lnSpc>
                <a:spcPct val="114999"/>
              </a:lnSpc>
              <a:buSzPts val="770"/>
              <a:buNone/>
            </a:pPr>
            <a:endParaRPr lang="en" sz="1600"/>
          </a:p>
          <a:p>
            <a:pPr marL="0" indent="0">
              <a:spcBef>
                <a:spcPts val="1200"/>
              </a:spcBef>
              <a:spcAft>
                <a:spcPts val="1200"/>
              </a:spcAft>
              <a:buSzPts val="770"/>
              <a:buNone/>
            </a:pPr>
            <a:endParaRPr lang="en" sz="1600"/>
          </a:p>
        </p:txBody>
      </p:sp>
    </p:spTree>
    <p:extLst>
      <p:ext uri="{BB962C8B-B14F-4D97-AF65-F5344CB8AC3E}">
        <p14:creationId xmlns:p14="http://schemas.microsoft.com/office/powerpoint/2010/main" val="112828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dirty="0"/>
              <a:t>HTTP Request</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US" dirty="0"/>
              <a:t>HTTP request in React is a way for a React app to send a message to a server, asking for some data or to perform an action. The message is sent using the HTTP protocol, which is a set of rules for how messages should be formatted and sent over the internet.</a:t>
            </a:r>
          </a:p>
          <a:p>
            <a:pPr marL="0" indent="0">
              <a:lnSpc>
                <a:spcPct val="114999"/>
              </a:lnSpc>
              <a:buNone/>
            </a:pPr>
            <a:r>
              <a:rPr lang="en-US" dirty="0"/>
              <a:t>There are different types of HTTP requests, such as GET, POST, PUT, and </a:t>
            </a:r>
            <a:r>
              <a:rPr lang="en-US"/>
              <a:t>DELETE.</a:t>
            </a:r>
            <a:br>
              <a:rPr lang="en-US" dirty="0"/>
            </a:br>
            <a:endParaRPr lang="en-US"/>
          </a:p>
          <a:p>
            <a:pPr marL="0" indent="0">
              <a:lnSpc>
                <a:spcPct val="114999"/>
              </a:lnSpc>
              <a:buSzPts val="770"/>
              <a:buNone/>
            </a:pPr>
            <a:endParaRPr lang="en" sz="1600"/>
          </a:p>
          <a:p>
            <a:pPr marL="0" indent="0">
              <a:spcBef>
                <a:spcPts val="1200"/>
              </a:spcBef>
              <a:spcAft>
                <a:spcPts val="1200"/>
              </a:spcAft>
              <a:buSzPts val="770"/>
              <a:buNone/>
            </a:pPr>
            <a:endParaRPr lang="en" sz="1600"/>
          </a:p>
        </p:txBody>
      </p:sp>
      <p:pic>
        <p:nvPicPr>
          <p:cNvPr id="2" name="Picture 2" descr="Diagram&#10;&#10;Description automatically generated">
            <a:extLst>
              <a:ext uri="{FF2B5EF4-FFF2-40B4-BE49-F238E27FC236}">
                <a16:creationId xmlns:a16="http://schemas.microsoft.com/office/drawing/2014/main" id="{9EA9F35E-96E3-E63C-63E1-FABCBAF9D454}"/>
              </a:ext>
            </a:extLst>
          </p:cNvPr>
          <p:cNvPicPr>
            <a:picLocks noChangeAspect="1"/>
          </p:cNvPicPr>
          <p:nvPr/>
        </p:nvPicPr>
        <p:blipFill rotWithShape="1">
          <a:blip r:embed="rId3"/>
          <a:srcRect t="38032" r="-318" b="27128"/>
          <a:stretch/>
        </p:blipFill>
        <p:spPr>
          <a:xfrm>
            <a:off x="1444486" y="2997182"/>
            <a:ext cx="6611978" cy="1451302"/>
          </a:xfrm>
          <a:prstGeom prst="rect">
            <a:avLst/>
          </a:prstGeom>
        </p:spPr>
      </p:pic>
    </p:spTree>
    <p:extLst>
      <p:ext uri="{BB962C8B-B14F-4D97-AF65-F5344CB8AC3E}">
        <p14:creationId xmlns:p14="http://schemas.microsoft.com/office/powerpoint/2010/main" val="3749417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dirty="0"/>
              <a:t>Axios vs Fetch</a:t>
            </a:r>
          </a:p>
        </p:txBody>
      </p:sp>
      <p:sp>
        <p:nvSpPr>
          <p:cNvPr id="93" name="Google Shape;93;p14"/>
          <p:cNvSpPr txBox="1">
            <a:spLocks noGrp="1"/>
          </p:cNvSpPr>
          <p:nvPr>
            <p:ph type="body" idx="1"/>
          </p:nvPr>
        </p:nvSpPr>
        <p:spPr>
          <a:xfrm>
            <a:off x="528964" y="1090175"/>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US" sz="1400" dirty="0"/>
              <a:t>There are a few reasons why using Axios might be better than using Fetch in some cases:</a:t>
            </a:r>
          </a:p>
          <a:p>
            <a:pPr marL="285750" indent="-285750">
              <a:lnSpc>
                <a:spcPct val="114999"/>
              </a:lnSpc>
              <a:buFont typeface="Arial"/>
              <a:buChar char="•"/>
            </a:pPr>
            <a:r>
              <a:rPr lang="en-US" sz="1400" dirty="0"/>
              <a:t>Axios has built-in support for handling HTTP errors, while with Fetch you need to check if the response status is between 200 and 299 to determine if the request was successful or not.</a:t>
            </a:r>
          </a:p>
          <a:p>
            <a:pPr marL="285750" indent="-285750">
              <a:lnSpc>
                <a:spcPct val="114999"/>
              </a:lnSpc>
              <a:buFont typeface="Arial"/>
              <a:buChar char="•"/>
            </a:pPr>
            <a:r>
              <a:rPr lang="en-US" sz="1400" dirty="0"/>
              <a:t>Axios can handle request cancellation, which can be useful when you need to cancel a request that is taking too long or is no longer needed.</a:t>
            </a:r>
          </a:p>
          <a:p>
            <a:pPr marL="285750" indent="-285750">
              <a:lnSpc>
                <a:spcPct val="114999"/>
              </a:lnSpc>
              <a:buFont typeface="Arial"/>
              <a:buChar char="•"/>
            </a:pPr>
            <a:r>
              <a:rPr lang="en-US" sz="1400" dirty="0"/>
              <a:t>Axios supports automatic transformation of request and response data, allowing you to easily work with different data formats, such as JSON, XML, or </a:t>
            </a:r>
            <a:r>
              <a:rPr lang="en-US" sz="1400" dirty="0" err="1"/>
              <a:t>FormData</a:t>
            </a:r>
            <a:r>
              <a:rPr lang="en-US" sz="1400" dirty="0"/>
              <a:t>.</a:t>
            </a:r>
          </a:p>
          <a:p>
            <a:pPr marL="285750" indent="-285750">
              <a:lnSpc>
                <a:spcPct val="114999"/>
              </a:lnSpc>
              <a:buFont typeface="Arial"/>
              <a:buChar char="•"/>
            </a:pPr>
            <a:r>
              <a:rPr lang="en-US" sz="1400" dirty="0"/>
              <a:t>Axios supports interceptors, which are functions that allow you to intercept requests or responses before they are sent or received. This can be useful for adding headers, logging, or transforming data.</a:t>
            </a:r>
          </a:p>
          <a:p>
            <a:pPr marL="285750" indent="-285750">
              <a:lnSpc>
                <a:spcPct val="114999"/>
              </a:lnSpc>
              <a:buFont typeface="Arial"/>
              <a:buChar char="•"/>
            </a:pPr>
            <a:r>
              <a:rPr lang="en-US" sz="1400" dirty="0"/>
              <a:t>Axios has a simpler API than Fetch, which can make it easier to use for beginners or for simple use cases.</a:t>
            </a:r>
            <a:br>
              <a:rPr lang="en-US" dirty="0"/>
            </a:br>
            <a:endParaRPr lang="en-US" sz="1400" dirty="0"/>
          </a:p>
          <a:p>
            <a:pPr marL="0" indent="0">
              <a:lnSpc>
                <a:spcPct val="114999"/>
              </a:lnSpc>
              <a:buSzPts val="770"/>
              <a:buNone/>
            </a:pPr>
            <a:endParaRPr lang="en" sz="1400" dirty="0"/>
          </a:p>
          <a:p>
            <a:pPr marL="0" indent="0">
              <a:spcBef>
                <a:spcPts val="1200"/>
              </a:spcBef>
              <a:spcAft>
                <a:spcPts val="1200"/>
              </a:spcAft>
              <a:buSzPts val="770"/>
              <a:buNone/>
            </a:pPr>
            <a:endParaRPr lang="en" sz="1400" dirty="0"/>
          </a:p>
        </p:txBody>
      </p:sp>
    </p:spTree>
    <p:extLst>
      <p:ext uri="{BB962C8B-B14F-4D97-AF65-F5344CB8AC3E}">
        <p14:creationId xmlns:p14="http://schemas.microsoft.com/office/powerpoint/2010/main" val="3749490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dirty="0"/>
              <a:t>Axios vs Fetch</a:t>
            </a:r>
          </a:p>
        </p:txBody>
      </p:sp>
      <p:sp>
        <p:nvSpPr>
          <p:cNvPr id="93" name="Google Shape;93;p14"/>
          <p:cNvSpPr txBox="1">
            <a:spLocks noGrp="1"/>
          </p:cNvSpPr>
          <p:nvPr>
            <p:ph type="body" idx="1"/>
          </p:nvPr>
        </p:nvSpPr>
        <p:spPr>
          <a:xfrm>
            <a:off x="553812" y="1015632"/>
            <a:ext cx="7795197" cy="3681355"/>
          </a:xfrm>
          <a:prstGeom prst="rect">
            <a:avLst/>
          </a:prstGeom>
        </p:spPr>
        <p:txBody>
          <a:bodyPr spcFirstLastPara="1" wrap="square" lIns="91425" tIns="91425" rIns="91425" bIns="91425" anchor="t" anchorCtr="0">
            <a:noAutofit/>
          </a:bodyPr>
          <a:lstStyle/>
          <a:p>
            <a:pPr marL="0" indent="0">
              <a:lnSpc>
                <a:spcPct val="114999"/>
              </a:lnSpc>
              <a:buNone/>
            </a:pPr>
            <a:r>
              <a:rPr lang="en-US" sz="1400" dirty="0"/>
              <a:t>fetch('/</a:t>
            </a:r>
            <a:r>
              <a:rPr lang="en-US" sz="1400" dirty="0" err="1"/>
              <a:t>api</a:t>
            </a:r>
            <a:r>
              <a:rPr lang="en-US" sz="1400" dirty="0"/>
              <a:t>/data') .</a:t>
            </a:r>
          </a:p>
          <a:p>
            <a:pPr marL="0" indent="0">
              <a:lnSpc>
                <a:spcPct val="114999"/>
              </a:lnSpc>
              <a:buNone/>
            </a:pPr>
            <a:r>
              <a:rPr lang="en-US" sz="1400" dirty="0"/>
              <a:t>then(response =&gt; { if (!</a:t>
            </a:r>
            <a:r>
              <a:rPr lang="en-US" sz="1400" dirty="0" err="1"/>
              <a:t>response.ok</a:t>
            </a:r>
            <a:r>
              <a:rPr lang="en-US" sz="1400" dirty="0"/>
              <a:t>) { </a:t>
            </a:r>
            <a:endParaRPr lang="en-US" sz="1400"/>
          </a:p>
          <a:p>
            <a:pPr marL="0" indent="0">
              <a:lnSpc>
                <a:spcPct val="114999"/>
              </a:lnSpc>
              <a:buNone/>
            </a:pPr>
            <a:r>
              <a:rPr lang="en-US" sz="1400" dirty="0"/>
              <a:t>throw Error(</a:t>
            </a:r>
            <a:r>
              <a:rPr lang="en-US" sz="1400" dirty="0" err="1"/>
              <a:t>response.statusText</a:t>
            </a:r>
            <a:r>
              <a:rPr lang="en-US" sz="1400" dirty="0"/>
              <a:t>);</a:t>
            </a:r>
          </a:p>
          <a:p>
            <a:pPr marL="0" indent="0">
              <a:lnSpc>
                <a:spcPct val="114999"/>
              </a:lnSpc>
              <a:buNone/>
            </a:pPr>
            <a:r>
              <a:rPr lang="en-US" sz="1400" dirty="0"/>
              <a:t> }</a:t>
            </a:r>
          </a:p>
          <a:p>
            <a:pPr marL="0" indent="0">
              <a:lnSpc>
                <a:spcPct val="114999"/>
              </a:lnSpc>
              <a:buNone/>
            </a:pPr>
            <a:r>
              <a:rPr lang="en-US" sz="1400" dirty="0"/>
              <a:t> return </a:t>
            </a:r>
            <a:r>
              <a:rPr lang="en-US" sz="1400" dirty="0" err="1"/>
              <a:t>response.json</a:t>
            </a:r>
            <a:r>
              <a:rPr lang="en-US" sz="1400" dirty="0"/>
              <a:t>(); }) </a:t>
            </a:r>
            <a:endParaRPr lang="en-US" sz="1400"/>
          </a:p>
          <a:p>
            <a:pPr marL="0" indent="0">
              <a:lnSpc>
                <a:spcPct val="114999"/>
              </a:lnSpc>
              <a:buNone/>
            </a:pPr>
            <a:r>
              <a:rPr lang="en-US" sz="1400" dirty="0"/>
              <a:t>.then(data =&gt; { console.log(data); }) </a:t>
            </a:r>
          </a:p>
          <a:p>
            <a:pPr marL="0" indent="0">
              <a:lnSpc>
                <a:spcPct val="114999"/>
              </a:lnSpc>
              <a:buNone/>
            </a:pPr>
            <a:r>
              <a:rPr lang="en-US" sz="1400" dirty="0"/>
              <a:t>.catch(error =&gt; { console.log(error);</a:t>
            </a:r>
          </a:p>
          <a:p>
            <a:pPr marL="0" indent="0">
              <a:lnSpc>
                <a:spcPct val="114999"/>
              </a:lnSpc>
              <a:buNone/>
            </a:pPr>
            <a:r>
              <a:rPr lang="en-US" sz="1400" dirty="0"/>
              <a:t> });</a:t>
            </a:r>
            <a:br>
              <a:rPr lang="en-US" dirty="0"/>
            </a:br>
            <a:endParaRPr lang="en-US" sz="1400"/>
          </a:p>
          <a:p>
            <a:pPr marL="0" indent="0">
              <a:lnSpc>
                <a:spcPct val="114999"/>
              </a:lnSpc>
              <a:buSzPts val="770"/>
              <a:buNone/>
            </a:pPr>
            <a:endParaRPr lang="en" sz="1400" dirty="0"/>
          </a:p>
          <a:p>
            <a:pPr marL="0" indent="0">
              <a:spcBef>
                <a:spcPts val="1200"/>
              </a:spcBef>
              <a:spcAft>
                <a:spcPts val="1200"/>
              </a:spcAft>
              <a:buSzPts val="770"/>
              <a:buNone/>
            </a:pPr>
            <a:endParaRPr lang="en" sz="1400" dirty="0"/>
          </a:p>
        </p:txBody>
      </p:sp>
      <p:sp>
        <p:nvSpPr>
          <p:cNvPr id="2" name="TextBox 1">
            <a:extLst>
              <a:ext uri="{FF2B5EF4-FFF2-40B4-BE49-F238E27FC236}">
                <a16:creationId xmlns:a16="http://schemas.microsoft.com/office/drawing/2014/main" id="{9FBE9435-1D88-90E6-1E62-4190AC9811B8}"/>
              </a:ext>
            </a:extLst>
          </p:cNvPr>
          <p:cNvSpPr txBox="1"/>
          <p:nvPr/>
        </p:nvSpPr>
        <p:spPr>
          <a:xfrm>
            <a:off x="4497456" y="1056033"/>
            <a:ext cx="349526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axios.get</a:t>
            </a:r>
            <a:r>
              <a:rPr lang="en-US" dirty="0"/>
              <a:t>('/</a:t>
            </a:r>
            <a:r>
              <a:rPr lang="en-US" dirty="0" err="1"/>
              <a:t>api</a:t>
            </a:r>
            <a:r>
              <a:rPr lang="en-US" dirty="0"/>
              <a:t>/data') .then(response =&gt; { console.log(</a:t>
            </a:r>
            <a:r>
              <a:rPr lang="en-US" dirty="0" err="1"/>
              <a:t>response.data</a:t>
            </a:r>
            <a:r>
              <a:rPr lang="en-US" dirty="0"/>
              <a:t>); }) .catch(error =&gt; { console.log(</a:t>
            </a:r>
            <a:r>
              <a:rPr lang="en-US" dirty="0" err="1"/>
              <a:t>error.response.status</a:t>
            </a:r>
            <a:r>
              <a:rPr lang="en-US" dirty="0"/>
              <a:t>); console.log(</a:t>
            </a:r>
            <a:r>
              <a:rPr lang="en-US" dirty="0" err="1"/>
              <a:t>error.response.data</a:t>
            </a:r>
            <a:r>
              <a:rPr lang="en-US" dirty="0"/>
              <a:t>); });</a:t>
            </a:r>
          </a:p>
        </p:txBody>
      </p:sp>
    </p:spTree>
    <p:extLst>
      <p:ext uri="{BB962C8B-B14F-4D97-AF65-F5344CB8AC3E}">
        <p14:creationId xmlns:p14="http://schemas.microsoft.com/office/powerpoint/2010/main" val="3641670566"/>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14199C43B6D445AD82B92697DE8063" ma:contentTypeVersion="6" ma:contentTypeDescription="Create a new document." ma:contentTypeScope="" ma:versionID="dcf66c50fcac9b052091da682e7a59c6">
  <xsd:schema xmlns:xsd="http://www.w3.org/2001/XMLSchema" xmlns:xs="http://www.w3.org/2001/XMLSchema" xmlns:p="http://schemas.microsoft.com/office/2006/metadata/properties" xmlns:ns2="359cc234-98f2-4964-a039-5c29b266dcd7" targetNamespace="http://schemas.microsoft.com/office/2006/metadata/properties" ma:root="true" ma:fieldsID="d52755afe733072b3bb7f323429c33b6" ns2:_="">
    <xsd:import namespace="359cc234-98f2-4964-a039-5c29b266dcd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9cc234-98f2-4964-a039-5c29b266dc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B9A2A8-882A-41AF-A100-2A0910E2E1C1}">
  <ds:schemaRefs>
    <ds:schemaRef ds:uri="http://schemas.microsoft.com/sharepoint/v3/contenttype/forms"/>
  </ds:schemaRefs>
</ds:datastoreItem>
</file>

<file path=customXml/itemProps2.xml><?xml version="1.0" encoding="utf-8"?>
<ds:datastoreItem xmlns:ds="http://schemas.openxmlformats.org/officeDocument/2006/customXml" ds:itemID="{11E8AC32-F9DE-40A4-9BAF-5F0AA1FC784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423DEFF-CD29-436A-BF96-92EAA6EEA9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9cc234-98f2-4964-a039-5c29b266dc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Geometric</vt:lpstr>
      <vt:lpstr>React Hooks</vt:lpstr>
      <vt:lpstr>Introduction of Hooks</vt:lpstr>
      <vt:lpstr>Rules for using Hooks: </vt:lpstr>
      <vt:lpstr>Types of Hooks: </vt:lpstr>
      <vt:lpstr>useState overview</vt:lpstr>
      <vt:lpstr>useEffect overview</vt:lpstr>
      <vt:lpstr>useEffect overview</vt:lpstr>
      <vt:lpstr>useContext overview: </vt:lpstr>
      <vt:lpstr>useReducer overview: </vt:lpstr>
      <vt:lpstr>useState vs useReducer: </vt:lpstr>
      <vt:lpstr>useMemo overview: </vt:lpstr>
      <vt:lpstr>useCallback overview</vt:lpstr>
      <vt:lpstr>useRef overview</vt:lpstr>
      <vt:lpstr>custom Hooks</vt:lpstr>
      <vt:lpstr>HTTP Request</vt:lpstr>
      <vt:lpstr>Axios vs Fetch</vt:lpstr>
      <vt:lpstr>Axios vs Fetch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Hooks</dc:title>
  <cp:revision>63</cp:revision>
  <dcterms:modified xsi:type="dcterms:W3CDTF">2025-12-27T08:34:47Z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0x0101003A14199C43B6D445AD82B92697DE8063</vt:lpwstr>
  </property>
</Properties>
</file>