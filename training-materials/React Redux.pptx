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258" r:id="rId7"/>
    <p:sldId id="278" r:id="rId8"/>
    <p:sldId id="279" r:id="rId9"/>
    <p:sldId id="276" r:id="rId10"/>
    <p:sldId id="277" r:id="rId11"/>
    <p:sldId id="280" r:id="rId12"/>
    <p:sldId id="283" r:id="rId13"/>
    <p:sldId id="284" r:id="rId14"/>
    <p:sldId id="282" r:id="rId15"/>
    <p:sldId id="285" r:id="rId16"/>
    <p:sldId id="289" r:id="rId17"/>
    <p:sldId id="291" r:id="rId18"/>
    <p:sldId id="288" r:id="rId19"/>
    <p:sldId id="290" r:id="rId20"/>
    <p:sldId id="286" r:id="rId21"/>
    <p:sldId id="292" r:id="rId22"/>
    <p:sldId id="287" r:id="rId23"/>
    <p:sldId id="27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EF87A1-BEAD-8292-2DD7-3A8CCEA10814}" v="7" dt="2025-12-27T08:27:33.1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67493" y="1122363"/>
            <a:ext cx="7096933" cy="2387600"/>
          </a:xfrm>
        </p:spPr>
        <p:txBody>
          <a:bodyPr anchor="b">
            <a:noAutofit/>
          </a:bodyPr>
          <a:lstStyle>
            <a:lvl1pPr algn="l">
              <a:defRPr sz="6000" b="1">
                <a:latin typeface="+mj-lt"/>
              </a:defRPr>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9500507" cy="806675"/>
          </a:xfrm>
        </p:spPr>
        <p:txBody>
          <a:bodyPr>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3">
            <a:extLst>
              <a:ext uri="{FF2B5EF4-FFF2-40B4-BE49-F238E27FC236}">
                <a16:creationId xmlns:a16="http://schemas.microsoft.com/office/drawing/2014/main" id="{9AC79249-FDC0-364D-A734-AE1DE1605D28}"/>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17467"/>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45B08281-154C-4FEF-A6DF-18BA3AC0F374}" type="datetime1">
              <a:rPr lang="en-US" smtClean="0"/>
              <a:t>12/27/2025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Title 1">
            <a:extLst>
              <a:ext uri="{FF2B5EF4-FFF2-40B4-BE49-F238E27FC236}">
                <a16:creationId xmlns:a16="http://schemas.microsoft.com/office/drawing/2014/main" id="{5E932F0D-7FC3-634B-932C-3625C16C8DE2}"/>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167492" y="2653167"/>
            <a:ext cx="9779183" cy="3436483"/>
          </a:xfrm>
        </p:spPr>
        <p:txBody>
          <a:bodyPr>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fld id="{04D857D4-BD7E-4A06-844B-AAD504F1114F}" type="datetime1">
              <a:rPr lang="en-US" smtClean="0"/>
              <a:t>12/27/2025</a:t>
            </a:fld>
            <a:endParaRPr lang="en-US"/>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a:t>PRESENTATION TITLE</a:t>
            </a:r>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802635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67494" y="1059400"/>
            <a:ext cx="6245912" cy="2387600"/>
          </a:xfrm>
        </p:spPr>
        <p:txBody>
          <a:bodyPr anchor="b">
            <a:noAutofit/>
          </a:bodyPr>
          <a:lstStyle>
            <a:lvl1pPr algn="l">
              <a:defRPr sz="6000" b="1">
                <a:solidFill>
                  <a:schemeClr val="bg1"/>
                </a:solidFill>
                <a:latin typeface="+mj-lt"/>
              </a:defRPr>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167494" y="3539075"/>
            <a:ext cx="6245912" cy="1406101"/>
          </a:xfrm>
        </p:spPr>
        <p:txBody>
          <a:bodyPr>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986529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Grap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87561"/>
            <a:ext cx="9779182" cy="3366815"/>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fld id="{916AFA50-87A4-4E99-B112-8C6B1DFB84B2}" type="datetime1">
              <a:rPr lang="en-US" smtClean="0"/>
              <a:t>12/27/2025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69781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Chart 2">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87563"/>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6B3905CA-BF0F-4A1B-AA0D-85E42F5D5A85}" type="datetime1">
              <a:rPr lang="en-US" smtClean="0"/>
              <a:t>12/27/2025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190945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a:xfrm>
            <a:off x="1798721" y="1684338"/>
            <a:ext cx="8594558" cy="2810460"/>
          </a:xfrm>
        </p:spPr>
        <p:txBody>
          <a:bodyPr>
            <a:noAutofit/>
          </a:bodyPr>
          <a:lstStyle>
            <a:lvl1pPr algn="ctr">
              <a:lnSpc>
                <a:spcPct val="100000"/>
              </a:lnSpc>
              <a:defRPr sz="4600">
                <a:solidFill>
                  <a:schemeClr val="bg1"/>
                </a:solidFill>
                <a:latin typeface="+mj-lt"/>
              </a:defRPr>
            </a:lvl1pPr>
          </a:lstStyle>
          <a:p>
            <a:r>
              <a:rPr lang="en-US"/>
              <a:t>Click to edit Master title style</a:t>
            </a:r>
          </a:p>
        </p:txBody>
      </p:sp>
      <p:sp>
        <p:nvSpPr>
          <p:cNvPr id="8" name="Text Placeholder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a:t>“</a:t>
            </a:r>
          </a:p>
        </p:txBody>
      </p:sp>
      <p:sp>
        <p:nvSpPr>
          <p:cNvPr id="10" name="Text Placeholder 9">
            <a:extLst>
              <a:ext uri="{FF2B5EF4-FFF2-40B4-BE49-F238E27FC236}">
                <a16:creationId xmlns:a16="http://schemas.microsoft.com/office/drawing/2014/main" id="{322D6C2B-78AC-DD47-9289-067C968B06C1}"/>
              </a:ext>
            </a:extLst>
          </p:cNvPr>
          <p:cNvSpPr>
            <a:spLocks noGrp="1"/>
          </p:cNvSpPr>
          <p:nvPr>
            <p:ph type="body" sz="quarter" idx="14"/>
          </p:nvPr>
        </p:nvSpPr>
        <p:spPr>
          <a:xfrm>
            <a:off x="6881813" y="4494213"/>
            <a:ext cx="3511550" cy="679450"/>
          </a:xfrm>
        </p:spPr>
        <p:txBody>
          <a:bodyPr>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a:r>
              <a:rPr lang="en-US"/>
              <a:t>Click to edit Master text styles</a:t>
            </a:r>
          </a:p>
        </p:txBody>
      </p:sp>
      <p:sp>
        <p:nvSpPr>
          <p:cNvPr id="9" name="Text Placeholder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a:t>”</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noAutofit/>
          </a:bodyPr>
          <a:lstStyle>
            <a:lvl1pPr>
              <a:defRPr>
                <a:solidFill>
                  <a:schemeClr val="accent2"/>
                </a:solidFill>
                <a:latin typeface="+mn-lt"/>
              </a:defRPr>
            </a:lvl1pPr>
          </a:lstStyle>
          <a:p>
            <a:fld id="{D3DA9A77-60C0-4BB8-898D-2828EE4073AD}" type="datetime1">
              <a:rPr lang="en-US" smtClean="0"/>
              <a:t>12/27/2025</a:t>
            </a:fld>
            <a:endParaRPr lang="en-US"/>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noAutofit/>
          </a:bodyPr>
          <a:lstStyle>
            <a:lvl1pPr>
              <a:defRPr>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476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itle 1">
            <a:extLst>
              <a:ext uri="{FF2B5EF4-FFF2-40B4-BE49-F238E27FC236}">
                <a16:creationId xmlns:a16="http://schemas.microsoft.com/office/drawing/2014/main" id="{1E40CEAF-B1BB-174E-A798-3BA60D9C0458}"/>
              </a:ext>
            </a:extLst>
          </p:cNvPr>
          <p:cNvSpPr>
            <a:spLocks noGrp="1"/>
          </p:cNvSpPr>
          <p:nvPr>
            <p:ph type="title"/>
          </p:nvPr>
        </p:nvSpPr>
        <p:spPr>
          <a:xfrm>
            <a:off x="750430" y="381000"/>
            <a:ext cx="8401624" cy="1325563"/>
          </a:xfrm>
        </p:spPr>
        <p:txBody>
          <a:bodyPr lIns="0" anchor="b">
            <a:noAutofit/>
          </a:bodyPr>
          <a:lstStyle>
            <a:lvl1pPr>
              <a:defRPr sz="4800" b="1">
                <a:latin typeface="+mj-lt"/>
              </a:defRPr>
            </a:lvl1pPr>
          </a:lstStyle>
          <a:p>
            <a:r>
              <a:rPr lang="en-US"/>
              <a:t>Click to edit Master title style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a:noAutofit/>
          </a:bodyPr>
          <a:lstStyle>
            <a:lvl1pPr marL="0" indent="0">
              <a:buNone/>
              <a:defRPr sz="1400">
                <a:solidFill>
                  <a:schemeClr val="tx1"/>
                </a:solidFill>
                <a:latin typeface="+mn-lt"/>
              </a:defRPr>
            </a:lvl1pPr>
          </a:lstStyle>
          <a:p>
            <a:endParaRPr lang="en-US"/>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a:noAutofit/>
          </a:bodyPr>
          <a:lstStyle>
            <a:lvl1pPr marL="0" indent="0">
              <a:buNone/>
              <a:defRPr sz="1400">
                <a:solidFill>
                  <a:schemeClr val="tx1"/>
                </a:solidFill>
                <a:latin typeface="+mn-lt"/>
              </a:defRPr>
            </a:lvl1pPr>
          </a:lstStyle>
          <a:p>
            <a:endParaRPr lang="en-US"/>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a:noAutofit/>
          </a:bodyPr>
          <a:lstStyle>
            <a:lvl1pPr marL="0" indent="0">
              <a:buNone/>
              <a:defRPr sz="1400">
                <a:solidFill>
                  <a:schemeClr val="tx1"/>
                </a:solidFill>
                <a:latin typeface="+mn-lt"/>
              </a:defRPr>
            </a:lvl1pPr>
          </a:lstStyle>
          <a:p>
            <a:endParaRPr lang="en-US"/>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a:noAutofit/>
          </a:bodyPr>
          <a:lstStyle>
            <a:lvl1pPr marL="0" indent="0">
              <a:buNone/>
              <a:defRPr sz="1400">
                <a:solidFill>
                  <a:schemeClr val="tx1"/>
                </a:solidFill>
                <a:latin typeface="+mn-lt"/>
              </a:defRPr>
            </a:lvl1pPr>
          </a:lstStyle>
          <a:p>
            <a:endParaRPr lang="en-US"/>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a:noAutofit/>
          </a:bodyPr>
          <a:lstStyle>
            <a:lvl1pPr>
              <a:defRPr>
                <a:solidFill>
                  <a:schemeClr val="accent3"/>
                </a:solidFill>
                <a:latin typeface="+mn-lt"/>
              </a:defRPr>
            </a:lvl1pPr>
          </a:lstStyle>
          <a:p>
            <a:fld id="{C1F30CD5-42B1-4614-9F46-5D29928CC2DB}" type="datetime1">
              <a:rPr lang="en-US" smtClean="0"/>
              <a:t>12/27/2025</a:t>
            </a:fld>
            <a:endParaRPr lang="en-US"/>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a:noAutofit/>
          </a:bodyPr>
          <a:lstStyle>
            <a:lvl1pPr>
              <a:defRPr>
                <a:solidFill>
                  <a:schemeClr val="accent3"/>
                </a:solidFill>
                <a:latin typeface="+mn-lt"/>
              </a:defRPr>
            </a:lvl1pPr>
          </a:lstStyle>
          <a:p>
            <a:r>
              <a:rPr lang="en-US"/>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
        <p:nvSpPr>
          <p:cNvPr id="19" name="Freeform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Freeform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7" name="Freeform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Freeform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154419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Whole team">
    <p:bg>
      <p:bgPr>
        <a:solidFill>
          <a:schemeClr val="accent2"/>
        </a:solidFill>
        <a:effectLst/>
      </p:bgPr>
    </p:bg>
    <p:spTree>
      <p:nvGrpSpPr>
        <p:cNvPr id="1" name=""/>
        <p:cNvGrpSpPr/>
        <p:nvPr/>
      </p:nvGrpSpPr>
      <p:grpSpPr>
        <a:xfrm>
          <a:off x="0" y="0"/>
          <a:ext cx="0" cy="0"/>
          <a:chOff x="0" y="0"/>
          <a:chExt cx="0" cy="0"/>
        </a:xfrm>
      </p:grpSpPr>
      <p:sp>
        <p:nvSpPr>
          <p:cNvPr id="54" name="Title 1">
            <a:extLst>
              <a:ext uri="{FF2B5EF4-FFF2-40B4-BE49-F238E27FC236}">
                <a16:creationId xmlns:a16="http://schemas.microsoft.com/office/drawing/2014/main" id="{6825B690-1AD7-4243-AC42-D2CF19B7B02C}"/>
              </a:ext>
            </a:extLst>
          </p:cNvPr>
          <p:cNvSpPr>
            <a:spLocks noGrp="1"/>
          </p:cNvSpPr>
          <p:nvPr>
            <p:ph type="title"/>
          </p:nvPr>
        </p:nvSpPr>
        <p:spPr>
          <a:xfrm>
            <a:off x="750430" y="381000"/>
            <a:ext cx="10678142" cy="1325563"/>
          </a:xfrm>
        </p:spPr>
        <p:txBody>
          <a:bodyPr lIns="0" anchor="b">
            <a:noAutofit/>
          </a:bodyPr>
          <a:lstStyle>
            <a:lvl1pPr>
              <a:defRPr sz="4800" b="1">
                <a:latin typeface="+mj-lt"/>
              </a:defRPr>
            </a:lvl1pPr>
          </a:lstStyle>
          <a:p>
            <a:r>
              <a:rPr lang="en-US"/>
              <a:t>Click to edit Master title style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a:noAutofit/>
          </a:bodyPr>
          <a:lstStyle>
            <a:lvl1pPr marL="0" indent="0">
              <a:buNone/>
              <a:defRPr sz="1400">
                <a:solidFill>
                  <a:schemeClr val="tx1"/>
                </a:solidFill>
              </a:defRPr>
            </a:lvl1pPr>
          </a:lstStyle>
          <a:p>
            <a:endParaRPr lang="en-US"/>
          </a:p>
        </p:txBody>
      </p:sp>
      <p:sp>
        <p:nvSpPr>
          <p:cNvPr id="31" name="Text Placeholder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32" name="Text Placeholder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33" name="Picture Placeholder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a:noAutofit/>
          </a:bodyPr>
          <a:lstStyle>
            <a:lvl1pPr marL="0" indent="0">
              <a:buNone/>
              <a:defRPr sz="1400">
                <a:solidFill>
                  <a:schemeClr val="tx1"/>
                </a:solidFill>
              </a:defRPr>
            </a:lvl1pPr>
          </a:lstStyle>
          <a:p>
            <a:endParaRPr lang="en-US"/>
          </a:p>
        </p:txBody>
      </p:sp>
      <p:sp>
        <p:nvSpPr>
          <p:cNvPr id="34" name="Text Placeholder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35" name="Text Placeholder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36" name="Picture Placeholder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a:noAutofit/>
          </a:bodyPr>
          <a:lstStyle>
            <a:lvl1pPr marL="0" indent="0">
              <a:buNone/>
              <a:defRPr sz="1400">
                <a:solidFill>
                  <a:schemeClr val="tx1"/>
                </a:solidFill>
              </a:defRPr>
            </a:lvl1pPr>
          </a:lstStyle>
          <a:p>
            <a:endParaRPr lang="en-US"/>
          </a:p>
        </p:txBody>
      </p:sp>
      <p:sp>
        <p:nvSpPr>
          <p:cNvPr id="37" name="Text Placeholder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38" name="Text Placeholder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39" name="Picture Placeholder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a:noAutofit/>
          </a:bodyPr>
          <a:lstStyle>
            <a:lvl1pPr marL="0" indent="0">
              <a:buNone/>
              <a:defRPr sz="1400">
                <a:solidFill>
                  <a:schemeClr val="tx1"/>
                </a:solidFill>
              </a:defRPr>
            </a:lvl1pPr>
          </a:lstStyle>
          <a:p>
            <a:endParaRPr lang="en-US"/>
          </a:p>
        </p:txBody>
      </p:sp>
      <p:sp>
        <p:nvSpPr>
          <p:cNvPr id="40" name="Text Placeholder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41" name="Text Placeholder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42" name="Picture Placeholder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a:noAutofit/>
          </a:bodyPr>
          <a:lstStyle>
            <a:lvl1pPr marL="0" indent="0">
              <a:buNone/>
              <a:defRPr sz="1400">
                <a:solidFill>
                  <a:schemeClr val="tx1"/>
                </a:solidFill>
              </a:defRPr>
            </a:lvl1pPr>
          </a:lstStyle>
          <a:p>
            <a:endParaRPr lang="en-US"/>
          </a:p>
        </p:txBody>
      </p:sp>
      <p:sp>
        <p:nvSpPr>
          <p:cNvPr id="43" name="Text Placeholder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44" name="Text Placeholder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45" name="Picture Placeholder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a:noAutofit/>
          </a:bodyPr>
          <a:lstStyle>
            <a:lvl1pPr marL="0" indent="0">
              <a:buNone/>
              <a:defRPr sz="1400">
                <a:solidFill>
                  <a:schemeClr val="tx1"/>
                </a:solidFill>
              </a:defRPr>
            </a:lvl1pPr>
          </a:lstStyle>
          <a:p>
            <a:endParaRPr lang="en-US"/>
          </a:p>
        </p:txBody>
      </p:sp>
      <p:sp>
        <p:nvSpPr>
          <p:cNvPr id="46" name="Text Placeholder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47" name="Text Placeholder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48" name="Picture Placeholder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a:noAutofit/>
          </a:bodyPr>
          <a:lstStyle>
            <a:lvl1pPr marL="0" indent="0">
              <a:buNone/>
              <a:defRPr sz="1400">
                <a:solidFill>
                  <a:schemeClr val="tx1"/>
                </a:solidFill>
              </a:defRPr>
            </a:lvl1pPr>
          </a:lstStyle>
          <a:p>
            <a:endParaRPr lang="en-US"/>
          </a:p>
        </p:txBody>
      </p:sp>
      <p:sp>
        <p:nvSpPr>
          <p:cNvPr id="49" name="Text Placeholder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50" name="Text Placeholder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51" name="Picture Placeholder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a:noAutofit/>
          </a:bodyPr>
          <a:lstStyle>
            <a:lvl1pPr marL="0" indent="0">
              <a:buNone/>
              <a:defRPr sz="1400">
                <a:solidFill>
                  <a:schemeClr val="tx1"/>
                </a:solidFill>
              </a:defRPr>
            </a:lvl1pPr>
          </a:lstStyle>
          <a:p>
            <a:endParaRPr lang="en-US"/>
          </a:p>
        </p:txBody>
      </p:sp>
      <p:sp>
        <p:nvSpPr>
          <p:cNvPr id="52" name="Text Placeholder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a:t>Name</a:t>
            </a:r>
          </a:p>
        </p:txBody>
      </p:sp>
      <p:sp>
        <p:nvSpPr>
          <p:cNvPr id="53" name="Text Placeholder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a:t>Title</a:t>
            </a:r>
          </a:p>
        </p:txBody>
      </p:sp>
      <p:sp>
        <p:nvSpPr>
          <p:cNvPr id="18" name="Date Placeholder 17">
            <a:extLst>
              <a:ext uri="{FF2B5EF4-FFF2-40B4-BE49-F238E27FC236}">
                <a16:creationId xmlns:a16="http://schemas.microsoft.com/office/drawing/2014/main" id="{30445668-2DC5-E84C-8B16-922BC95F13F2}"/>
              </a:ext>
            </a:extLst>
          </p:cNvPr>
          <p:cNvSpPr>
            <a:spLocks noGrp="1"/>
          </p:cNvSpPr>
          <p:nvPr>
            <p:ph type="dt" sz="half" idx="25"/>
          </p:nvPr>
        </p:nvSpPr>
        <p:spPr/>
        <p:txBody>
          <a:bodyPr>
            <a:noAutofit/>
          </a:bodyPr>
          <a:lstStyle>
            <a:lvl1pPr>
              <a:defRPr>
                <a:solidFill>
                  <a:schemeClr val="accent3"/>
                </a:solidFill>
                <a:latin typeface="+mn-lt"/>
              </a:defRPr>
            </a:lvl1pPr>
          </a:lstStyle>
          <a:p>
            <a:fld id="{EE6020E3-D95B-4E55-964F-4B1A98BDAA6F}" type="datetime1">
              <a:rPr lang="en-US" smtClean="0"/>
              <a:t>12/27/2025</a:t>
            </a:fld>
            <a:endParaRPr lang="en-US"/>
          </a:p>
        </p:txBody>
      </p:sp>
      <p:sp>
        <p:nvSpPr>
          <p:cNvPr id="22" name="Footer Placeholder 21">
            <a:extLst>
              <a:ext uri="{FF2B5EF4-FFF2-40B4-BE49-F238E27FC236}">
                <a16:creationId xmlns:a16="http://schemas.microsoft.com/office/drawing/2014/main" id="{D9227732-A878-814C-8621-64ED1B2CCF9F}"/>
              </a:ext>
            </a:extLst>
          </p:cNvPr>
          <p:cNvSpPr>
            <a:spLocks noGrp="1"/>
          </p:cNvSpPr>
          <p:nvPr>
            <p:ph type="ftr" sz="quarter" idx="26"/>
          </p:nvPr>
        </p:nvSpPr>
        <p:spPr/>
        <p:txBody>
          <a:bodyPr>
            <a:noAutofit/>
          </a:bodyPr>
          <a:lstStyle>
            <a:lvl1pPr>
              <a:defRPr>
                <a:solidFill>
                  <a:schemeClr val="accent3"/>
                </a:solidFill>
                <a:latin typeface="+mn-lt"/>
              </a:defRPr>
            </a:lvl1pPr>
          </a:lstStyle>
          <a:p>
            <a:r>
              <a:rPr lang="en-US"/>
              <a:t>PRESENTATION TITLE</a:t>
            </a:r>
          </a:p>
        </p:txBody>
      </p:sp>
      <p:sp>
        <p:nvSpPr>
          <p:cNvPr id="23" name="Slide Number Placeholder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a:noAutofit/>
          </a:bodyPr>
          <a:lstStyle>
            <a:lvl1pPr>
              <a:defRPr>
                <a:solidFill>
                  <a:schemeClr val="accent3"/>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0057219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meline">
    <p:bg>
      <p:bgPr>
        <a:solidFill>
          <a:schemeClr val="accent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solidFill>
                  <a:schemeClr val="bg1"/>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087561"/>
            <a:ext cx="9779182" cy="3366815"/>
          </a:xfrm>
        </p:spPr>
        <p:txBody>
          <a:bodyPr>
            <a:noAutofit/>
          </a:bodyPr>
          <a:lstStyle>
            <a:lvl1pPr marL="0" indent="0">
              <a:buNone/>
              <a:defRPr>
                <a:solidFill>
                  <a:schemeClr val="bg1"/>
                </a:solidFill>
                <a:latin typeface="+mn-lt"/>
              </a:defRPr>
            </a:lvl1pPr>
            <a:lvl2pPr marL="457200" indent="0">
              <a:buNone/>
              <a:defRPr>
                <a:solidFill>
                  <a:schemeClr val="bg1"/>
                </a:solidFill>
                <a:latin typeface="+mn-lt"/>
              </a:defRPr>
            </a:lvl2pPr>
            <a:lvl3pPr marL="914400" indent="0">
              <a:buNone/>
              <a:defRPr>
                <a:solidFill>
                  <a:schemeClr val="bg1"/>
                </a:solidFill>
                <a:latin typeface="+mn-lt"/>
              </a:defRPr>
            </a:lvl3pPr>
            <a:lvl4pPr marL="1371600" indent="0">
              <a:buNone/>
              <a:defRPr>
                <a:solidFill>
                  <a:schemeClr val="bg1"/>
                </a:solidFill>
                <a:latin typeface="+mn-lt"/>
              </a:defRPr>
            </a:lvl4pPr>
            <a:lvl5pPr marL="1828800" indent="0">
              <a:buNone/>
              <a:defRPr>
                <a:solidFill>
                  <a:schemeClr val="bg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AE46C21D-EBB5-4F3D-B06D-166777189317}" type="datetime1">
              <a:rPr lang="en-US" smtClean="0"/>
              <a:t>12/27/2025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r>
              <a:rPr lang="en-US"/>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5692755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2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3" y="2528203"/>
            <a:ext cx="4663440"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fld id="{1DFFEA26-EB1D-498C-95CD-1ECE586790AA}" type="datetime1">
              <a:rPr lang="en-US" smtClean="0"/>
              <a:t>12/27/2025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PRESENTATION TITLE</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p:nvPr>
        </p:nvSpPr>
        <p:spPr>
          <a:xfrm>
            <a:off x="6283235" y="2528203"/>
            <a:ext cx="4663440"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0B33DABA-7BF5-1147-BA5E-63B92F220E51}"/>
              </a:ext>
            </a:extLst>
          </p:cNvPr>
          <p:cNvSpPr>
            <a:spLocks noGrp="1"/>
          </p:cNvSpPr>
          <p:nvPr>
            <p:ph idx="11"/>
          </p:nvPr>
        </p:nvSpPr>
        <p:spPr>
          <a:xfrm>
            <a:off x="1167493" y="2005689"/>
            <a:ext cx="4663440"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1B05BEE9-8BC0-EC44-B913-DB6426DF2EA7}"/>
              </a:ext>
            </a:extLst>
          </p:cNvPr>
          <p:cNvSpPr>
            <a:spLocks noGrp="1"/>
          </p:cNvSpPr>
          <p:nvPr>
            <p:ph idx="12"/>
          </p:nvPr>
        </p:nvSpPr>
        <p:spPr>
          <a:xfrm>
            <a:off x="6283235" y="2005689"/>
            <a:ext cx="4663440"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31912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3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1167491" y="2526318"/>
            <a:ext cx="3218688"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reeform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6" name="Freeform 5">
            <a:extLst>
              <a:ext uri="{FF2B5EF4-FFF2-40B4-BE49-F238E27FC236}">
                <a16:creationId xmlns:a16="http://schemas.microsoft.com/office/drawing/2014/main" id="{D11C9832-A021-954E-A34F-2988D1189AE9}"/>
              </a:ext>
            </a:extLst>
          </p:cNvPr>
          <p:cNvSpPr/>
          <p:nvPr userDrawn="1"/>
        </p:nvSpPr>
        <p:spPr>
          <a:xfrm rot="5400000" flipH="1">
            <a:off x="11258144" y="5924144"/>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n-lt"/>
              </a:endParaRPr>
            </a:p>
          </p:txBody>
        </p:sp>
      </p:gr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sz="1200">
                <a:solidFill>
                  <a:schemeClr val="accent2"/>
                </a:solidFill>
                <a:latin typeface="+mn-lt"/>
              </a:defRPr>
            </a:lvl1pPr>
          </a:lstStyle>
          <a:p>
            <a:fld id="{539842EE-D56F-4F18-94E7-094CEF23F906}" type="datetime1">
              <a:rPr lang="en-US" smtClean="0"/>
              <a:t>12/27/2025</a:t>
            </a:fld>
            <a:endParaRPr lang="en-US"/>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r>
              <a:rPr lang="en-US"/>
              <a:t>PRESENTATION TITLE</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p:nvPr>
        </p:nvSpPr>
        <p:spPr>
          <a:xfrm>
            <a:off x="4683787" y="2526318"/>
            <a:ext cx="3173279"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0B33DABA-7BF5-1147-BA5E-63B92F220E51}"/>
              </a:ext>
            </a:extLst>
          </p:cNvPr>
          <p:cNvSpPr>
            <a:spLocks noGrp="1"/>
          </p:cNvSpPr>
          <p:nvPr>
            <p:ph idx="11"/>
          </p:nvPr>
        </p:nvSpPr>
        <p:spPr>
          <a:xfrm>
            <a:off x="1167493"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1B05BEE9-8BC0-EC44-B913-DB6426DF2EA7}"/>
              </a:ext>
            </a:extLst>
          </p:cNvPr>
          <p:cNvSpPr>
            <a:spLocks noGrp="1"/>
          </p:cNvSpPr>
          <p:nvPr>
            <p:ph idx="12"/>
          </p:nvPr>
        </p:nvSpPr>
        <p:spPr>
          <a:xfrm>
            <a:off x="4683788"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43D62993-A055-DF4F-9286-4FFE3A5C7FD7}"/>
              </a:ext>
            </a:extLst>
          </p:cNvPr>
          <p:cNvSpPr>
            <a:spLocks noGrp="1"/>
          </p:cNvSpPr>
          <p:nvPr>
            <p:ph idx="13"/>
          </p:nvPr>
        </p:nvSpPr>
        <p:spPr>
          <a:xfrm>
            <a:off x="8200082" y="2526318"/>
            <a:ext cx="3173279" cy="2828613"/>
          </a:xfrm>
        </p:spPr>
        <p:txBody>
          <a:bodyPr>
            <a:noAutofit/>
          </a:bodyPr>
          <a:lstStyle>
            <a:lvl1pPr marL="0" indent="0">
              <a:buNone/>
              <a:defRPr sz="2000">
                <a:latin typeface="+mn-lt"/>
              </a:defRPr>
            </a:lvl1pPr>
            <a:lvl2pPr marL="457200" indent="0">
              <a:buNone/>
              <a:defRPr sz="1800">
                <a:latin typeface="+mn-lt"/>
              </a:defRPr>
            </a:lvl2pPr>
            <a:lvl3pPr marL="914400" indent="0">
              <a:buNone/>
              <a:defRPr sz="1600">
                <a:latin typeface="+mn-lt"/>
              </a:defRPr>
            </a:lvl3pPr>
            <a:lvl4pPr marL="1371600" indent="0">
              <a:buNone/>
              <a:defRPr sz="1400">
                <a:latin typeface="+mn-lt"/>
              </a:defRPr>
            </a:lvl4pPr>
            <a:lvl5pPr marL="1828800" indent="0">
              <a:buNone/>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2">
            <a:extLst>
              <a:ext uri="{FF2B5EF4-FFF2-40B4-BE49-F238E27FC236}">
                <a16:creationId xmlns:a16="http://schemas.microsoft.com/office/drawing/2014/main" id="{A896DA2E-4448-254C-86D1-9E16E63CC6A0}"/>
              </a:ext>
            </a:extLst>
          </p:cNvPr>
          <p:cNvSpPr>
            <a:spLocks noGrp="1"/>
          </p:cNvSpPr>
          <p:nvPr>
            <p:ph idx="14"/>
          </p:nvPr>
        </p:nvSpPr>
        <p:spPr>
          <a:xfrm>
            <a:off x="8200083" y="2003804"/>
            <a:ext cx="3173278" cy="522514"/>
          </a:xfrm>
        </p:spPr>
        <p:txBody>
          <a:bodyPr>
            <a:noAutofit/>
          </a:bodyPr>
          <a:lstStyle>
            <a:lvl1pPr marL="0" indent="0">
              <a:buNone/>
              <a:defRPr sz="2400" b="1">
                <a:latin typeface="+mj-lt"/>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2756976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1167494" y="1122363"/>
            <a:ext cx="6220278" cy="2387600"/>
          </a:xfrm>
        </p:spPr>
        <p:txBody>
          <a:bodyPr anchor="b">
            <a:noAutofit/>
          </a:bodyPr>
          <a:lstStyle>
            <a:lvl1pPr algn="l">
              <a:defRPr sz="6000" b="1">
                <a:latin typeface="+mj-lt"/>
              </a:defRPr>
            </a:lvl1pPr>
          </a:lstStyle>
          <a:p>
            <a:r>
              <a:rPr lang="en-US"/>
              <a:t>Click to edit Master title style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1167493" y="3602038"/>
            <a:ext cx="6220277" cy="2247219"/>
          </a:xfrm>
        </p:spPr>
        <p:txBody>
          <a:bodyPr>
            <a:no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fld id="{FC9A72C8-1C87-42EF-8A11-BF6DFA19ED8B}" type="datetime1">
              <a:rPr lang="en-US" smtClean="0"/>
              <a:t>12/27/2025</a:t>
            </a:fld>
            <a:endParaRPr lang="en-US"/>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r>
              <a:rPr lang="en-US"/>
              <a:t>PRESENTATION TITLE</a:t>
            </a:r>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9" r:id="rId4"/>
    <p:sldLayoutId id="2147483660" r:id="rId5"/>
    <p:sldLayoutId id="2147483661" r:id="rId6"/>
    <p:sldLayoutId id="2147483654" r:id="rId7"/>
    <p:sldLayoutId id="2147483658" r:id="rId8"/>
    <p:sldLayoutId id="2147483662" r:id="rId9"/>
    <p:sldLayoutId id="2147483663" r:id="rId10"/>
    <p:sldLayoutId id="2147483664" r:id="rId11"/>
    <p:sldLayoutId id="2147483665" r:id="rId12"/>
    <p:sldLayoutId id="2147483666" r:id="rId1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1122363"/>
            <a:ext cx="7096933" cy="2387600"/>
          </a:xfrm>
        </p:spPr>
        <p:txBody>
          <a:bodyPr/>
          <a:lstStyle/>
          <a:p>
            <a:r>
              <a:rPr lang="en-US"/>
              <a:t>React Redux</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1167493" y="3602038"/>
            <a:ext cx="9500507" cy="806675"/>
          </a:xfrm>
        </p:spPr>
        <p:txBody>
          <a:bodyPr vert="horz" lIns="91440" tIns="45720" rIns="91440" bIns="45720" rtlCol="0" anchor="t">
            <a:noAutofit/>
          </a:bodyPr>
          <a:lstStyle/>
          <a:p>
            <a:r>
              <a:rPr lang="en-US" err="1"/>
              <a:t>Fullstack</a:t>
            </a:r>
          </a:p>
        </p:txBody>
      </p:sp>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lstStyle/>
          <a:p>
            <a:r>
              <a:rPr lang="en-US"/>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366815"/>
          </a:xfrm>
        </p:spPr>
        <p:txBody>
          <a:bodyPr vert="horz" lIns="91440" tIns="45720" rIns="91440" bIns="45720" rtlCol="0" anchor="t">
            <a:normAutofit/>
          </a:bodyPr>
          <a:lstStyle/>
          <a:p>
            <a:pPr marL="457200" indent="-457200">
              <a:buChar char="•"/>
            </a:pPr>
            <a:r>
              <a:rPr lang="en-US"/>
              <a:t>Introduction</a:t>
            </a:r>
          </a:p>
          <a:p>
            <a:pPr marL="457200" indent="-457200">
              <a:buChar char="•"/>
            </a:pPr>
            <a:r>
              <a:rPr lang="en-US"/>
              <a:t>Benefits of Redux</a:t>
            </a:r>
          </a:p>
          <a:p>
            <a:pPr marL="457200" indent="-457200">
              <a:buChar char="•"/>
            </a:pPr>
            <a:r>
              <a:rPr lang="en-US"/>
              <a:t>Core Concepts of Redux</a:t>
            </a:r>
          </a:p>
          <a:p>
            <a:pPr marL="457200" indent="-457200">
              <a:buChar char="•"/>
            </a:pPr>
            <a:r>
              <a:rPr lang="en-US"/>
              <a:t>Core Principles of Redux</a:t>
            </a:r>
          </a:p>
          <a:p>
            <a:pPr marL="457200" indent="-457200">
              <a:buChar char="•"/>
            </a:pPr>
            <a:r>
              <a:rPr lang="en-US"/>
              <a:t>Hands-on example on Single Reducer</a:t>
            </a:r>
          </a:p>
          <a:p>
            <a:pPr marL="457200" indent="-457200">
              <a:buChar char="•"/>
            </a:pPr>
            <a:r>
              <a:rPr lang="en-US"/>
              <a:t>Hands-on example on Combined Reducers</a:t>
            </a:r>
          </a:p>
          <a:p>
            <a:endParaRPr lang="en-US"/>
          </a:p>
          <a:p>
            <a:endParaRPr lang="en-US"/>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lstStyle/>
          <a:p>
            <a:r>
              <a:rPr lang="en-US"/>
              <a:t>17-04-23</a:t>
            </a:r>
          </a:p>
        </p:txBody>
      </p:sp>
      <p:sp>
        <p:nvSpPr>
          <p:cNvPr id="6" name="Slide Number Placeholder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2</a:t>
            </a:fld>
            <a:endParaRPr lang="en-US"/>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Introduction</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fontScale="85000" lnSpcReduction="20000"/>
          </a:bodyPr>
          <a:lstStyle/>
          <a:p>
            <a:pPr marL="342900" indent="-342900">
              <a:buChar char="•"/>
            </a:pPr>
            <a:r>
              <a:rPr lang="en-US">
                <a:solidFill>
                  <a:srgbClr val="FFFFFF"/>
                </a:solidFill>
                <a:ea typeface="+mn-lt"/>
                <a:cs typeface="+mn-lt"/>
              </a:rPr>
              <a:t>Redux is an open-source JavaScript library</a:t>
            </a:r>
            <a:r>
              <a:rPr lang="en-US"/>
              <a:t> is a predictable state container for the JS apps.</a:t>
            </a:r>
          </a:p>
          <a:p>
            <a:pPr marL="342900" indent="-342900">
              <a:buChar char="•"/>
            </a:pPr>
            <a:r>
              <a:rPr lang="en-US">
                <a:solidFill>
                  <a:srgbClr val="FFFFFF"/>
                </a:solidFill>
                <a:ea typeface="+mn-lt"/>
                <a:cs typeface="+mn-lt"/>
              </a:rPr>
              <a:t>Redux provides a centralized location for managing application state, making it easier to reason about how data is flowing through an application.</a:t>
            </a:r>
            <a:endParaRPr lang="en-US"/>
          </a:p>
          <a:p>
            <a:pPr marL="342900" indent="-342900">
              <a:lnSpc>
                <a:spcPct val="130000"/>
              </a:lnSpc>
              <a:buChar char="•"/>
            </a:pPr>
            <a:r>
              <a:rPr lang="en-US">
                <a:solidFill>
                  <a:srgbClr val="FFFFFF"/>
                </a:solidFill>
                <a:ea typeface="+mn-lt"/>
                <a:cs typeface="+mn-lt"/>
              </a:rPr>
              <a:t>Redux can be used with any JavaScript application, but it is often used in conjunction with other libraries and frameworks like React.</a:t>
            </a:r>
            <a:endParaRPr lang="en-US"/>
          </a:p>
          <a:p>
            <a:pPr marL="342900" indent="-342900">
              <a:lnSpc>
                <a:spcPct val="130000"/>
              </a:lnSpc>
              <a:buChar char="•"/>
            </a:pPr>
            <a:r>
              <a:rPr lang="en-US">
                <a:solidFill>
                  <a:srgbClr val="FFFFFF"/>
                </a:solidFill>
                <a:ea typeface="+mn-lt"/>
                <a:cs typeface="+mn-lt"/>
              </a:rPr>
              <a:t>Redux can be used in a variety of application architectures, including server-side rendering, progressive web apps, and native mobile apps.</a:t>
            </a:r>
            <a:endParaRPr lang="en-US"/>
          </a:p>
        </p:txBody>
      </p:sp>
      <p:sp>
        <p:nvSpPr>
          <p:cNvPr id="5" name="Footer Placeholder 4">
            <a:extLst>
              <a:ext uri="{FF2B5EF4-FFF2-40B4-BE49-F238E27FC236}">
                <a16:creationId xmlns:a16="http://schemas.microsoft.com/office/drawing/2014/main" id="{D593FA18-50D6-0344-B477-1D7C91CF4029}"/>
              </a:ext>
            </a:extLst>
          </p:cNvPr>
          <p:cNvSpPr>
            <a:spLocks noGrp="1"/>
          </p:cNvSpPr>
          <p:nvPr>
            <p:ph type="ftr" sz="quarter" idx="11"/>
          </p:nvPr>
        </p:nvSpPr>
        <p:spPr>
          <a:xfrm>
            <a:off x="4038600" y="6356350"/>
            <a:ext cx="4114800" cy="365125"/>
          </a:xfrm>
        </p:spPr>
        <p:txBody>
          <a:bodyPr/>
          <a:lstStyle/>
          <a:p>
            <a:r>
              <a:rPr lang="en-US">
                <a:solidFill>
                  <a:srgbClr val="DAE5EF"/>
                </a:solidFill>
              </a:rPr>
              <a:t>React Redux</a:t>
            </a:r>
          </a:p>
          <a:p>
            <a:endParaRPr lang="en-US" dirty="0"/>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3</a:t>
            </a:fld>
            <a:endParaRPr lang="en-US"/>
          </a:p>
        </p:txBody>
      </p:sp>
    </p:spTree>
    <p:extLst>
      <p:ext uri="{BB962C8B-B14F-4D97-AF65-F5344CB8AC3E}">
        <p14:creationId xmlns:p14="http://schemas.microsoft.com/office/powerpoint/2010/main" val="163979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Introduction</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p:txBody>
      </p:sp>
      <p:sp>
        <p:nvSpPr>
          <p:cNvPr id="5" name="Footer Placeholder 4">
            <a:extLst>
              <a:ext uri="{FF2B5EF4-FFF2-40B4-BE49-F238E27FC236}">
                <a16:creationId xmlns:a16="http://schemas.microsoft.com/office/drawing/2014/main" id="{D593FA18-50D6-0344-B477-1D7C91CF4029}"/>
              </a:ext>
            </a:extLst>
          </p:cNvPr>
          <p:cNvSpPr>
            <a:spLocks noGrp="1"/>
          </p:cNvSpPr>
          <p:nvPr>
            <p:ph type="ftr" sz="quarter" idx="11"/>
          </p:nvPr>
        </p:nvSpPr>
        <p:spPr>
          <a:xfrm>
            <a:off x="4038600" y="6356350"/>
            <a:ext cx="4114800" cy="365125"/>
          </a:xfrm>
        </p:spPr>
        <p:txBody>
          <a:bodyPr/>
          <a:lstStyle/>
          <a:p>
            <a:r>
              <a:rPr lang="en-US" dirty="0">
                <a:solidFill>
                  <a:srgbClr val="DAE5EF"/>
                </a:solidFill>
              </a:rPr>
              <a:t>React Redux</a:t>
            </a:r>
          </a:p>
          <a:p>
            <a:endParaRPr lang="en-US" dirty="0"/>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4</a:t>
            </a:fld>
            <a:endParaRPr lang="en-US"/>
          </a:p>
        </p:txBody>
      </p:sp>
      <p:pic>
        <p:nvPicPr>
          <p:cNvPr id="4" name="Picture 6" descr="Chart, diagram, box and whisker chart&#10;&#10;Description automatically generated">
            <a:extLst>
              <a:ext uri="{FF2B5EF4-FFF2-40B4-BE49-F238E27FC236}">
                <a16:creationId xmlns:a16="http://schemas.microsoft.com/office/drawing/2014/main" id="{E3389AD4-7687-9E4B-1AEB-78C2CEBEF843}"/>
              </a:ext>
            </a:extLst>
          </p:cNvPr>
          <p:cNvPicPr>
            <a:picLocks noChangeAspect="1"/>
          </p:cNvPicPr>
          <p:nvPr/>
        </p:nvPicPr>
        <p:blipFill rotWithShape="1">
          <a:blip r:embed="rId2"/>
          <a:srcRect l="8753" t="26913" r="7825" b="13984"/>
          <a:stretch/>
        </p:blipFill>
        <p:spPr>
          <a:xfrm>
            <a:off x="1234661" y="2469736"/>
            <a:ext cx="9171607" cy="3819252"/>
          </a:xfrm>
          <a:prstGeom prst="rect">
            <a:avLst/>
          </a:prstGeom>
        </p:spPr>
      </p:pic>
    </p:spTree>
    <p:extLst>
      <p:ext uri="{BB962C8B-B14F-4D97-AF65-F5344CB8AC3E}">
        <p14:creationId xmlns:p14="http://schemas.microsoft.com/office/powerpoint/2010/main" val="2872952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Introduction</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p:txBody>
      </p:sp>
      <p:sp>
        <p:nvSpPr>
          <p:cNvPr id="5" name="Footer Placeholder 4">
            <a:extLst>
              <a:ext uri="{FF2B5EF4-FFF2-40B4-BE49-F238E27FC236}">
                <a16:creationId xmlns:a16="http://schemas.microsoft.com/office/drawing/2014/main" id="{D593FA18-50D6-0344-B477-1D7C91CF4029}"/>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5</a:t>
            </a:fld>
            <a:endParaRPr lang="en-US"/>
          </a:p>
        </p:txBody>
      </p:sp>
      <p:pic>
        <p:nvPicPr>
          <p:cNvPr id="7" name="Picture 7" descr="Diagram, box and whisker chart&#10;&#10;Description automatically generated">
            <a:extLst>
              <a:ext uri="{FF2B5EF4-FFF2-40B4-BE49-F238E27FC236}">
                <a16:creationId xmlns:a16="http://schemas.microsoft.com/office/drawing/2014/main" id="{EF047C4E-6C2F-DD55-C349-B1B6744199DA}"/>
              </a:ext>
            </a:extLst>
          </p:cNvPr>
          <p:cNvPicPr>
            <a:picLocks noChangeAspect="1"/>
          </p:cNvPicPr>
          <p:nvPr/>
        </p:nvPicPr>
        <p:blipFill rotWithShape="1">
          <a:blip r:embed="rId2"/>
          <a:srcRect l="1149" t="25601" r="3592" b="12933"/>
          <a:stretch/>
        </p:blipFill>
        <p:spPr>
          <a:xfrm>
            <a:off x="1168400" y="2559188"/>
            <a:ext cx="8718043" cy="3922227"/>
          </a:xfrm>
          <a:prstGeom prst="rect">
            <a:avLst/>
          </a:prstGeom>
        </p:spPr>
      </p:pic>
    </p:spTree>
    <p:extLst>
      <p:ext uri="{BB962C8B-B14F-4D97-AF65-F5344CB8AC3E}">
        <p14:creationId xmlns:p14="http://schemas.microsoft.com/office/powerpoint/2010/main" val="1251040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Benefits of Redux</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847232" y="2509601"/>
            <a:ext cx="10872486" cy="4220570"/>
          </a:xfrm>
        </p:spPr>
        <p:txBody>
          <a:bodyPr vert="horz" lIns="91440" tIns="45720" rIns="91440" bIns="45720" rtlCol="0" anchor="t">
            <a:normAutofit fontScale="70000" lnSpcReduction="20000"/>
          </a:bodyPr>
          <a:lstStyle/>
          <a:p>
            <a:pPr marL="342900" indent="-342900">
              <a:buChar char="•"/>
            </a:pPr>
            <a:r>
              <a:rPr lang="en-US" b="1">
                <a:solidFill>
                  <a:srgbClr val="FFFFFF"/>
                </a:solidFill>
                <a:ea typeface="+mn-lt"/>
                <a:cs typeface="+mn-lt"/>
              </a:rPr>
              <a:t>Centralized state management:</a:t>
            </a:r>
            <a:r>
              <a:rPr lang="en-US">
                <a:solidFill>
                  <a:srgbClr val="FFFFFF"/>
                </a:solidFill>
                <a:ea typeface="+mn-lt"/>
                <a:cs typeface="+mn-lt"/>
              </a:rPr>
              <a:t> Redux provides a centralized location for managing application state, making it easier to reason about how data is flowing through an application.</a:t>
            </a:r>
          </a:p>
          <a:p>
            <a:pPr marL="342900" indent="-342900">
              <a:buChar char="•"/>
            </a:pPr>
            <a:r>
              <a:rPr lang="en-US" b="1">
                <a:solidFill>
                  <a:srgbClr val="FFFFFF"/>
                </a:solidFill>
                <a:ea typeface="+mn-lt"/>
                <a:cs typeface="+mn-lt"/>
              </a:rPr>
              <a:t>Predictable state updates:</a:t>
            </a:r>
            <a:r>
              <a:rPr lang="en-US">
                <a:solidFill>
                  <a:srgbClr val="FFFFFF"/>
                </a:solidFill>
                <a:ea typeface="+mn-lt"/>
                <a:cs typeface="+mn-lt"/>
              </a:rPr>
              <a:t> Redux follows a unidirectional data flow model, which makes it easier to predict how state will change in response to user actions or other events.</a:t>
            </a:r>
          </a:p>
          <a:p>
            <a:pPr marL="342900" indent="-342900">
              <a:buChar char="•"/>
            </a:pPr>
            <a:r>
              <a:rPr lang="en-US" b="1">
                <a:solidFill>
                  <a:srgbClr val="FFFFFF"/>
                </a:solidFill>
                <a:ea typeface="+mn-lt"/>
                <a:cs typeface="+mn-lt"/>
              </a:rPr>
              <a:t>Time-travel debugging:</a:t>
            </a:r>
            <a:r>
              <a:rPr lang="en-US">
                <a:solidFill>
                  <a:srgbClr val="FFFFFF"/>
                </a:solidFill>
                <a:ea typeface="+mn-lt"/>
                <a:cs typeface="+mn-lt"/>
              </a:rPr>
              <a:t> Redux makes it easier to implement features like time-travel debugging, where a developer can step backwards and forwards through the state of an application to diagnose problems.</a:t>
            </a:r>
          </a:p>
          <a:p>
            <a:pPr marL="342900" indent="-342900">
              <a:buChar char="•"/>
            </a:pPr>
            <a:r>
              <a:rPr lang="en-US" b="1">
                <a:solidFill>
                  <a:srgbClr val="FFFFFF"/>
                </a:solidFill>
                <a:ea typeface="+mn-lt"/>
                <a:cs typeface="+mn-lt"/>
              </a:rPr>
              <a:t>Developer experience:</a:t>
            </a:r>
            <a:r>
              <a:rPr lang="en-US">
                <a:solidFill>
                  <a:srgbClr val="FFFFFF"/>
                </a:solidFill>
                <a:ea typeface="+mn-lt"/>
                <a:cs typeface="+mn-lt"/>
              </a:rPr>
              <a:t> Redux can simplify the development experience by providing a clear separation of concerns between application logic and state management.</a:t>
            </a:r>
          </a:p>
          <a:p>
            <a:pPr marL="342900" indent="-342900">
              <a:buChar char="•"/>
            </a:pPr>
            <a:r>
              <a:rPr lang="en-US" b="1">
                <a:solidFill>
                  <a:srgbClr val="FFFFFF"/>
                </a:solidFill>
                <a:ea typeface="+mn-lt"/>
                <a:cs typeface="+mn-lt"/>
              </a:rPr>
              <a:t>Scalability:</a:t>
            </a:r>
            <a:r>
              <a:rPr lang="en-US">
                <a:solidFill>
                  <a:srgbClr val="FFFFFF"/>
                </a:solidFill>
                <a:ea typeface="+mn-lt"/>
                <a:cs typeface="+mn-lt"/>
              </a:rPr>
              <a:t> Redux can scale to manage complex state management requirements in large applications, making it a good choice for enterprise-level applications.</a:t>
            </a:r>
          </a:p>
          <a:p>
            <a:pPr marL="342900" indent="-342900">
              <a:buChar char="•"/>
            </a:pPr>
            <a:endParaRPr lang="en-US">
              <a:solidFill>
                <a:srgbClr val="FFFFFF"/>
              </a:solidFill>
              <a:ea typeface="+mn-lt"/>
              <a:cs typeface="+mn-lt"/>
            </a:endParaRPr>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6</a:t>
            </a:fld>
            <a:endParaRPr lang="en-US"/>
          </a:p>
        </p:txBody>
      </p:sp>
    </p:spTree>
    <p:extLst>
      <p:ext uri="{BB962C8B-B14F-4D97-AF65-F5344CB8AC3E}">
        <p14:creationId xmlns:p14="http://schemas.microsoft.com/office/powerpoint/2010/main" val="789414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Three Core Concepts of Redux</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847232" y="2509601"/>
            <a:ext cx="10872486" cy="4220570"/>
          </a:xfrm>
        </p:spPr>
        <p:txBody>
          <a:bodyPr vert="horz" lIns="91440" tIns="45720" rIns="91440" bIns="45720" rtlCol="0" anchor="t">
            <a:normAutofit/>
          </a:bodyPr>
          <a:lstStyle/>
          <a:p>
            <a:pPr marL="342900" indent="-342900">
              <a:buChar char="•"/>
            </a:pPr>
            <a:endParaRPr lang="en-US">
              <a:solidFill>
                <a:srgbClr val="FFFFFF"/>
              </a:solidFill>
              <a:ea typeface="+mn-lt"/>
              <a:cs typeface="+mn-lt"/>
            </a:endParaRPr>
          </a:p>
          <a:p>
            <a:pPr marL="342900" indent="-342900">
              <a:buChar char="•"/>
            </a:pPr>
            <a:endParaRPr lang="en-US">
              <a:solidFill>
                <a:srgbClr val="FFFFFF"/>
              </a:solidFill>
              <a:ea typeface="+mn-lt"/>
              <a:cs typeface="+mn-lt"/>
            </a:endParaRPr>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7</a:t>
            </a:fld>
            <a:endParaRPr lang="en-US"/>
          </a:p>
        </p:txBody>
      </p:sp>
      <p:pic>
        <p:nvPicPr>
          <p:cNvPr id="4" name="Picture 4" descr="Table&#10;&#10;Description automatically generated">
            <a:extLst>
              <a:ext uri="{FF2B5EF4-FFF2-40B4-BE49-F238E27FC236}">
                <a16:creationId xmlns:a16="http://schemas.microsoft.com/office/drawing/2014/main" id="{6CE4B7E4-9057-2CB6-E875-C568FE0016CF}"/>
              </a:ext>
            </a:extLst>
          </p:cNvPr>
          <p:cNvPicPr>
            <a:picLocks noChangeAspect="1"/>
          </p:cNvPicPr>
          <p:nvPr/>
        </p:nvPicPr>
        <p:blipFill rotWithShape="1">
          <a:blip r:embed="rId2"/>
          <a:srcRect l="21372" t="31429" r="21900" b="43956"/>
          <a:stretch/>
        </p:blipFill>
        <p:spPr>
          <a:xfrm>
            <a:off x="1091096" y="4037910"/>
            <a:ext cx="8864160" cy="2318388"/>
          </a:xfrm>
          <a:prstGeom prst="rect">
            <a:avLst/>
          </a:prstGeom>
        </p:spPr>
      </p:pic>
      <p:sp>
        <p:nvSpPr>
          <p:cNvPr id="7" name="TextBox 6">
            <a:extLst>
              <a:ext uri="{FF2B5EF4-FFF2-40B4-BE49-F238E27FC236}">
                <a16:creationId xmlns:a16="http://schemas.microsoft.com/office/drawing/2014/main" id="{11F9DE41-9A2C-AA98-05A5-8A38EDDA4A47}"/>
              </a:ext>
            </a:extLst>
          </p:cNvPr>
          <p:cNvSpPr txBox="1"/>
          <p:nvPr/>
        </p:nvSpPr>
        <p:spPr>
          <a:xfrm>
            <a:off x="911087" y="2390912"/>
            <a:ext cx="9733720"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sz="2000">
                <a:solidFill>
                  <a:schemeClr val="bg1"/>
                </a:solidFill>
              </a:rPr>
              <a:t>Store : A store holds the state of the application.</a:t>
            </a:r>
          </a:p>
          <a:p>
            <a:pPr marL="342900" indent="-342900">
              <a:buAutoNum type="arabicPeriod"/>
            </a:pPr>
            <a:endParaRPr lang="en-US" sz="2000">
              <a:solidFill>
                <a:schemeClr val="bg1"/>
              </a:solidFill>
            </a:endParaRPr>
          </a:p>
          <a:p>
            <a:pPr marL="342900" indent="-342900">
              <a:buAutoNum type="arabicPeriod"/>
            </a:pPr>
            <a:r>
              <a:rPr lang="en-US" sz="2000">
                <a:solidFill>
                  <a:schemeClr val="bg1"/>
                </a:solidFill>
              </a:rPr>
              <a:t>Action : An action describers the changes in the state of the application.</a:t>
            </a:r>
          </a:p>
          <a:p>
            <a:pPr marL="342900" indent="-342900">
              <a:buAutoNum type="arabicPeriod"/>
            </a:pPr>
            <a:endParaRPr lang="en-US" sz="2000">
              <a:solidFill>
                <a:schemeClr val="bg1"/>
              </a:solidFill>
            </a:endParaRPr>
          </a:p>
          <a:p>
            <a:pPr marL="342900" indent="-342900">
              <a:buAutoNum type="arabicPeriod"/>
            </a:pPr>
            <a:r>
              <a:rPr lang="en-US" sz="2000">
                <a:solidFill>
                  <a:schemeClr val="bg1"/>
                </a:solidFill>
              </a:rPr>
              <a:t>Reducer : A reducer carries out the state transition depending upon the action.</a:t>
            </a:r>
          </a:p>
        </p:txBody>
      </p:sp>
    </p:spTree>
    <p:extLst>
      <p:ext uri="{BB962C8B-B14F-4D97-AF65-F5344CB8AC3E}">
        <p14:creationId xmlns:p14="http://schemas.microsoft.com/office/powerpoint/2010/main" val="1124289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Three Core Principles of Redux</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847232" y="2509601"/>
            <a:ext cx="10872486" cy="4220570"/>
          </a:xfrm>
        </p:spPr>
        <p:txBody>
          <a:bodyPr vert="horz" lIns="91440" tIns="45720" rIns="91440" bIns="45720" rtlCol="0" anchor="t">
            <a:normAutofit/>
          </a:bodyPr>
          <a:lstStyle/>
          <a:p>
            <a:pPr marL="342900" indent="-342900">
              <a:buChar char="•"/>
            </a:pPr>
            <a:endParaRPr lang="en-US">
              <a:solidFill>
                <a:srgbClr val="FFFFFF"/>
              </a:solidFill>
              <a:ea typeface="+mn-lt"/>
              <a:cs typeface="+mn-lt"/>
            </a:endParaRPr>
          </a:p>
          <a:p>
            <a:pPr marL="342900" indent="-342900">
              <a:buChar char="•"/>
            </a:pPr>
            <a:endParaRPr lang="en-US">
              <a:solidFill>
                <a:srgbClr val="FFFFFF"/>
              </a:solidFill>
              <a:ea typeface="+mn-lt"/>
              <a:cs typeface="+mn-lt"/>
            </a:endParaRPr>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8</a:t>
            </a:fld>
            <a:endParaRPr lang="en-US"/>
          </a:p>
        </p:txBody>
      </p:sp>
      <p:sp>
        <p:nvSpPr>
          <p:cNvPr id="7" name="TextBox 6">
            <a:extLst>
              <a:ext uri="{FF2B5EF4-FFF2-40B4-BE49-F238E27FC236}">
                <a16:creationId xmlns:a16="http://schemas.microsoft.com/office/drawing/2014/main" id="{11F9DE41-9A2C-AA98-05A5-8A38EDDA4A47}"/>
              </a:ext>
            </a:extLst>
          </p:cNvPr>
          <p:cNvSpPr txBox="1"/>
          <p:nvPr/>
        </p:nvSpPr>
        <p:spPr>
          <a:xfrm>
            <a:off x="944217" y="2644912"/>
            <a:ext cx="9733720"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AutoNum type="arabicPeriod"/>
            </a:pPr>
            <a:r>
              <a:rPr lang="en-US" sz="2000">
                <a:solidFill>
                  <a:schemeClr val="bg1"/>
                </a:solidFill>
              </a:rPr>
              <a:t>The state of our whole application is stored in an object tree within a single store. In our cake shop example, </a:t>
            </a:r>
            <a:r>
              <a:rPr lang="en-US" sz="2000" err="1">
                <a:solidFill>
                  <a:schemeClr val="bg1"/>
                </a:solidFill>
              </a:rPr>
              <a:t>noOfCakes</a:t>
            </a:r>
            <a:r>
              <a:rPr lang="en-US" sz="2000">
                <a:solidFill>
                  <a:schemeClr val="bg1"/>
                </a:solidFill>
              </a:rPr>
              <a:t> is a state.</a:t>
            </a:r>
          </a:p>
          <a:p>
            <a:pPr marL="457200" indent="-457200">
              <a:buAutoNum type="arabicPeriod"/>
            </a:pPr>
            <a:endParaRPr lang="en-US" sz="2000">
              <a:solidFill>
                <a:schemeClr val="bg1"/>
              </a:solidFill>
            </a:endParaRPr>
          </a:p>
          <a:p>
            <a:pPr marL="457200" indent="-457200">
              <a:buAutoNum type="arabicPeriod"/>
            </a:pPr>
            <a:r>
              <a:rPr lang="en-US" sz="2000">
                <a:solidFill>
                  <a:schemeClr val="bg1"/>
                </a:solidFill>
              </a:rPr>
              <a:t>The only way to change the state is by dispatching an action, an object describing what happened. We are not allowed to directly update the state. In our cake shop example, BUY_CAKE is an action.</a:t>
            </a:r>
            <a:endParaRPr lang="en-US">
              <a:solidFill>
                <a:schemeClr val="bg1"/>
              </a:solidFill>
            </a:endParaRPr>
          </a:p>
          <a:p>
            <a:pPr marL="457200" indent="-457200">
              <a:buAutoNum type="arabicPeriod"/>
            </a:pPr>
            <a:endParaRPr lang="en-US" sz="2000">
              <a:solidFill>
                <a:schemeClr val="bg1"/>
              </a:solidFill>
            </a:endParaRPr>
          </a:p>
          <a:p>
            <a:pPr marL="457200" indent="-457200">
              <a:buAutoNum type="arabicPeriod"/>
            </a:pPr>
            <a:r>
              <a:rPr lang="en-US" sz="2000">
                <a:solidFill>
                  <a:schemeClr val="bg1"/>
                </a:solidFill>
              </a:rPr>
              <a:t>To specify how the state tree is transformed, we need to write pure reducers. Pure reducers are basically a function that takes the previous state and action as parameters and returns the new state. In the cake shop example, the reducer is the shopkeeper.</a:t>
            </a:r>
          </a:p>
          <a:p>
            <a:pPr marL="342900" indent="-342900">
              <a:buAutoNum type="arabicPeriod"/>
            </a:pPr>
            <a:endParaRPr lang="en-US" sz="2000">
              <a:solidFill>
                <a:schemeClr val="bg1"/>
              </a:solidFill>
            </a:endParaRPr>
          </a:p>
        </p:txBody>
      </p:sp>
    </p:spTree>
    <p:extLst>
      <p:ext uri="{BB962C8B-B14F-4D97-AF65-F5344CB8AC3E}">
        <p14:creationId xmlns:p14="http://schemas.microsoft.com/office/powerpoint/2010/main" val="2384612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43F67-9C70-4748-8C0C-3A7863422F99}"/>
              </a:ext>
            </a:extLst>
          </p:cNvPr>
          <p:cNvSpPr>
            <a:spLocks noGrp="1"/>
          </p:cNvSpPr>
          <p:nvPr>
            <p:ph type="title"/>
          </p:nvPr>
        </p:nvSpPr>
        <p:spPr>
          <a:xfrm>
            <a:off x="1167492" y="381000"/>
            <a:ext cx="9779183" cy="1325563"/>
          </a:xfrm>
        </p:spPr>
        <p:txBody>
          <a:bodyPr/>
          <a:lstStyle/>
          <a:p>
            <a:r>
              <a:rPr lang="en-US"/>
              <a:t>Three Core Principles of Redux</a:t>
            </a:r>
          </a:p>
        </p:txBody>
      </p:sp>
      <p:sp>
        <p:nvSpPr>
          <p:cNvPr id="3" name="Content Placeholder 2">
            <a:extLst>
              <a:ext uri="{FF2B5EF4-FFF2-40B4-BE49-F238E27FC236}">
                <a16:creationId xmlns:a16="http://schemas.microsoft.com/office/drawing/2014/main" id="{95B371F2-DBA5-415A-82C8-651F587B857A}"/>
              </a:ext>
            </a:extLst>
          </p:cNvPr>
          <p:cNvSpPr>
            <a:spLocks noGrp="1"/>
          </p:cNvSpPr>
          <p:nvPr>
            <p:ph type="body" idx="1"/>
          </p:nvPr>
        </p:nvSpPr>
        <p:spPr>
          <a:xfrm>
            <a:off x="847232" y="2509601"/>
            <a:ext cx="10872486" cy="4220570"/>
          </a:xfrm>
        </p:spPr>
        <p:txBody>
          <a:bodyPr vert="horz" lIns="91440" tIns="45720" rIns="91440" bIns="45720" rtlCol="0" anchor="t">
            <a:normAutofit/>
          </a:bodyPr>
          <a:lstStyle/>
          <a:p>
            <a:pPr marL="342900" indent="-342900">
              <a:buChar char="•"/>
            </a:pPr>
            <a:endParaRPr lang="en-US">
              <a:solidFill>
                <a:srgbClr val="FFFFFF"/>
              </a:solidFill>
              <a:ea typeface="+mn-lt"/>
              <a:cs typeface="+mn-lt"/>
            </a:endParaRPr>
          </a:p>
          <a:p>
            <a:pPr marL="342900" indent="-342900">
              <a:buChar char="•"/>
            </a:pPr>
            <a:endParaRPr lang="en-US">
              <a:solidFill>
                <a:srgbClr val="FFFFFF"/>
              </a:solidFill>
              <a:ea typeface="+mn-lt"/>
              <a:cs typeface="+mn-lt"/>
            </a:endParaRPr>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a:p>
            <a:pPr marL="342900" indent="-342900">
              <a:buChar char="•"/>
            </a:pPr>
            <a:endParaRPr lang="en-US"/>
          </a:p>
        </p:txBody>
      </p:sp>
      <p:sp>
        <p:nvSpPr>
          <p:cNvPr id="6" name="Slide Number Placeholder 5">
            <a:extLst>
              <a:ext uri="{FF2B5EF4-FFF2-40B4-BE49-F238E27FC236}">
                <a16:creationId xmlns:a16="http://schemas.microsoft.com/office/drawing/2014/main" id="{134C72D2-EFDF-844A-8472-CB49A59B127B}"/>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9</a:t>
            </a:fld>
            <a:endParaRPr lang="en-US"/>
          </a:p>
        </p:txBody>
      </p:sp>
      <p:sp>
        <p:nvSpPr>
          <p:cNvPr id="7" name="TextBox 6">
            <a:extLst>
              <a:ext uri="{FF2B5EF4-FFF2-40B4-BE49-F238E27FC236}">
                <a16:creationId xmlns:a16="http://schemas.microsoft.com/office/drawing/2014/main" id="{11F9DE41-9A2C-AA98-05A5-8A38EDDA4A47}"/>
              </a:ext>
            </a:extLst>
          </p:cNvPr>
          <p:cNvSpPr txBox="1"/>
          <p:nvPr/>
        </p:nvSpPr>
        <p:spPr>
          <a:xfrm>
            <a:off x="944217" y="2644912"/>
            <a:ext cx="9733720"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000">
              <a:solidFill>
                <a:schemeClr val="bg1"/>
              </a:solidFill>
            </a:endParaRPr>
          </a:p>
          <a:p>
            <a:pPr marL="342900" indent="-342900">
              <a:buAutoNum type="arabicPeriod"/>
            </a:pPr>
            <a:endParaRPr lang="en-US" sz="2000">
              <a:solidFill>
                <a:schemeClr val="bg1"/>
              </a:solidFill>
            </a:endParaRPr>
          </a:p>
        </p:txBody>
      </p:sp>
      <p:pic>
        <p:nvPicPr>
          <p:cNvPr id="4" name="Picture 4" descr="Diagram&#10;&#10;Description automatically generated">
            <a:extLst>
              <a:ext uri="{FF2B5EF4-FFF2-40B4-BE49-F238E27FC236}">
                <a16:creationId xmlns:a16="http://schemas.microsoft.com/office/drawing/2014/main" id="{913498F8-D797-0B1E-BE8B-8E67C4D3A08B}"/>
              </a:ext>
            </a:extLst>
          </p:cNvPr>
          <p:cNvPicPr>
            <a:picLocks noChangeAspect="1"/>
          </p:cNvPicPr>
          <p:nvPr/>
        </p:nvPicPr>
        <p:blipFill rotWithShape="1">
          <a:blip r:embed="rId2"/>
          <a:srcRect l="10201" t="28462" r="23850" b="14102"/>
          <a:stretch/>
        </p:blipFill>
        <p:spPr>
          <a:xfrm>
            <a:off x="1223617" y="2513910"/>
            <a:ext cx="8366596" cy="4084347"/>
          </a:xfrm>
          <a:prstGeom prst="rect">
            <a:avLst/>
          </a:prstGeom>
        </p:spPr>
      </p:pic>
    </p:spTree>
    <p:extLst>
      <p:ext uri="{BB962C8B-B14F-4D97-AF65-F5344CB8AC3E}">
        <p14:creationId xmlns:p14="http://schemas.microsoft.com/office/powerpoint/2010/main" val="3974851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lstStyle/>
          <a:p>
            <a:r>
              <a:rPr lang="en-US"/>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366815"/>
          </a:xfrm>
        </p:spPr>
        <p:txBody>
          <a:bodyPr vert="horz" lIns="91440" tIns="45720" rIns="91440" bIns="45720" rtlCol="0" anchor="t">
            <a:normAutofit/>
          </a:bodyPr>
          <a:lstStyle/>
          <a:p>
            <a:pPr marL="457200" indent="-457200">
              <a:buChar char="•"/>
            </a:pPr>
            <a:r>
              <a:rPr lang="en-US"/>
              <a:t>Middleware Overview</a:t>
            </a:r>
          </a:p>
          <a:p>
            <a:pPr marL="457200" indent="-457200">
              <a:buChar char="•"/>
            </a:pPr>
            <a:r>
              <a:rPr lang="en-US"/>
              <a:t>Hands-on with Redux logger middleware</a:t>
            </a:r>
          </a:p>
          <a:p>
            <a:pPr marL="457200" indent="-457200">
              <a:buChar char="•"/>
            </a:pPr>
            <a:r>
              <a:rPr lang="en-US"/>
              <a:t>Overview of Redux </a:t>
            </a:r>
            <a:r>
              <a:rPr lang="en-US" err="1"/>
              <a:t>thunk</a:t>
            </a:r>
          </a:p>
          <a:p>
            <a:pPr marL="457200" indent="-457200">
              <a:buChar char="•"/>
            </a:pPr>
            <a:r>
              <a:rPr lang="en-US"/>
              <a:t>Hands-on with Redux </a:t>
            </a:r>
            <a:r>
              <a:rPr lang="en-US" err="1"/>
              <a:t>thunk</a:t>
            </a:r>
            <a:r>
              <a:rPr lang="en-US"/>
              <a:t> middleware</a:t>
            </a:r>
          </a:p>
          <a:p>
            <a:pPr marL="457200" indent="-457200">
              <a:buChar char="•"/>
            </a:pPr>
            <a:r>
              <a:rPr lang="en-US"/>
              <a:t>Hands-on with React with Redux</a:t>
            </a:r>
          </a:p>
          <a:p>
            <a:pPr marL="457200" indent="-457200">
              <a:buChar char="•"/>
            </a:pPr>
            <a:endParaRPr lang="en-US"/>
          </a:p>
          <a:p>
            <a:endParaRPr lang="en-US"/>
          </a:p>
          <a:p>
            <a:endParaRPr lang="en-US"/>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lstStyle/>
          <a:p>
            <a:r>
              <a:rPr lang="en-US"/>
              <a:t>18-04-23</a:t>
            </a:r>
          </a:p>
        </p:txBody>
      </p:sp>
      <p:sp>
        <p:nvSpPr>
          <p:cNvPr id="6" name="Slide Number Placeholder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10</a:t>
            </a:fld>
            <a:endParaRPr lang="en-US"/>
          </a:p>
        </p:txBody>
      </p:sp>
    </p:spTree>
    <p:extLst>
      <p:ext uri="{BB962C8B-B14F-4D97-AF65-F5344CB8AC3E}">
        <p14:creationId xmlns:p14="http://schemas.microsoft.com/office/powerpoint/2010/main" val="1599068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a:t>Middleware</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11</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712304" y="2551043"/>
            <a:ext cx="9988826"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solidFill>
                  <a:schemeClr val="bg1"/>
                </a:solidFill>
              </a:rPr>
              <a:t>It's a suggested way to extend Redux with custom functionality.</a:t>
            </a:r>
          </a:p>
          <a:p>
            <a:pPr marL="342900" indent="-342900">
              <a:buFont typeface="Arial"/>
              <a:buChar char="•"/>
            </a:pPr>
            <a:r>
              <a:rPr lang="en-US" sz="2400">
                <a:solidFill>
                  <a:schemeClr val="bg1"/>
                </a:solidFill>
                <a:ea typeface="+mn-lt"/>
                <a:cs typeface="+mn-lt"/>
              </a:rPr>
              <a:t>It sits between the dispatch function and the reducers. When an action is dispatched, it passes through each middleware function before reaching the reducers.</a:t>
            </a:r>
          </a:p>
          <a:p>
            <a:pPr marL="285750" indent="-285750">
              <a:buFont typeface="Arial"/>
              <a:buChar char="•"/>
            </a:pPr>
            <a:r>
              <a:rPr lang="en-US" sz="2400">
                <a:solidFill>
                  <a:schemeClr val="bg1"/>
                </a:solidFill>
              </a:rPr>
              <a:t>We can use middleware for logging, crash-reporting, performing asynchronous tasks etc.</a:t>
            </a:r>
          </a:p>
          <a:p>
            <a:pPr marL="342900" indent="-342900">
              <a:buFont typeface="Arial"/>
              <a:buChar char="•"/>
            </a:pPr>
            <a:r>
              <a:rPr lang="en-US" sz="2400">
                <a:solidFill>
                  <a:schemeClr val="bg1"/>
                </a:solidFill>
                <a:ea typeface="+mn-lt"/>
                <a:cs typeface="+mn-lt"/>
              </a:rPr>
              <a:t>Popular middleware libraries for Redux include </a:t>
            </a:r>
            <a:r>
              <a:rPr lang="en-US" sz="2400">
                <a:solidFill>
                  <a:schemeClr val="bg1"/>
                </a:solidFill>
                <a:latin typeface="Tenorite"/>
              </a:rPr>
              <a:t>redux-logger, redux-</a:t>
            </a:r>
            <a:r>
              <a:rPr lang="en-US" sz="2400" err="1">
                <a:solidFill>
                  <a:schemeClr val="bg1"/>
                </a:solidFill>
                <a:latin typeface="Tenorite"/>
              </a:rPr>
              <a:t>thunk</a:t>
            </a:r>
            <a:r>
              <a:rPr lang="en-US" sz="2400">
                <a:solidFill>
                  <a:schemeClr val="bg1"/>
                </a:solidFill>
                <a:ea typeface="+mn-lt"/>
                <a:cs typeface="+mn-lt"/>
              </a:rPr>
              <a:t>, </a:t>
            </a:r>
            <a:r>
              <a:rPr lang="en-US" sz="2400">
                <a:solidFill>
                  <a:schemeClr val="bg1"/>
                </a:solidFill>
                <a:latin typeface="Tenorite"/>
              </a:rPr>
              <a:t>redux-saga</a:t>
            </a:r>
            <a:r>
              <a:rPr lang="en-US" sz="2400">
                <a:solidFill>
                  <a:schemeClr val="bg1"/>
                </a:solidFill>
                <a:ea typeface="+mn-lt"/>
                <a:cs typeface="+mn-lt"/>
              </a:rPr>
              <a:t>, and </a:t>
            </a:r>
            <a:r>
              <a:rPr lang="en-US" sz="2400">
                <a:solidFill>
                  <a:schemeClr val="bg1"/>
                </a:solidFill>
                <a:latin typeface="Tenorite"/>
              </a:rPr>
              <a:t>redux-observable</a:t>
            </a:r>
            <a:r>
              <a:rPr lang="en-US" sz="2400">
                <a:solidFill>
                  <a:schemeClr val="bg1"/>
                </a:solidFill>
                <a:ea typeface="+mn-lt"/>
                <a:cs typeface="+mn-lt"/>
              </a:rPr>
              <a:t>, each providing their own unique features and benefits.</a:t>
            </a:r>
          </a:p>
          <a:p>
            <a:pPr marL="285750" indent="-285750">
              <a:buFont typeface="Arial"/>
              <a:buChar char="•"/>
            </a:pPr>
            <a:endParaRPr lang="en-US" sz="2400">
              <a:solidFill>
                <a:schemeClr val="bg1"/>
              </a:solidFill>
            </a:endParaRPr>
          </a:p>
        </p:txBody>
      </p:sp>
    </p:spTree>
    <p:extLst>
      <p:ext uri="{BB962C8B-B14F-4D97-AF65-F5344CB8AC3E}">
        <p14:creationId xmlns:p14="http://schemas.microsoft.com/office/powerpoint/2010/main" val="1484411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a:t>Redux </a:t>
            </a:r>
            <a:r>
              <a:rPr lang="en-US" err="1"/>
              <a:t>Thunk</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5" name="Footer Placeholder 4">
            <a:extLst>
              <a:ext uri="{FF2B5EF4-FFF2-40B4-BE49-F238E27FC236}">
                <a16:creationId xmlns:a16="http://schemas.microsoft.com/office/drawing/2014/main" id="{03FD8152-D9C3-204A-9444-45CD4F180EB4}"/>
              </a:ext>
            </a:extLst>
          </p:cNvPr>
          <p:cNvSpPr>
            <a:spLocks noGrp="1"/>
          </p:cNvSpPr>
          <p:nvPr>
            <p:ph type="ftr" sz="quarter" idx="11"/>
          </p:nvPr>
        </p:nvSpPr>
        <p:spPr>
          <a:xfrm>
            <a:off x="4038600" y="6356350"/>
            <a:ext cx="4114800" cy="365125"/>
          </a:xfrm>
        </p:spPr>
        <p:txBody>
          <a:bodyPr/>
          <a:lstStyle/>
          <a:p>
            <a:r>
              <a:rPr lang="en-US"/>
              <a:t>PRESENTATION TITLE</a:t>
            </a:r>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12</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712304" y="2551043"/>
            <a:ext cx="9988826"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solidFill>
                  <a:schemeClr val="bg1"/>
                </a:solidFill>
                <a:latin typeface="Tenorite"/>
              </a:rPr>
              <a:t>redux-</a:t>
            </a:r>
            <a:r>
              <a:rPr lang="en-US" sz="2400" err="1">
                <a:solidFill>
                  <a:schemeClr val="bg1"/>
                </a:solidFill>
                <a:latin typeface="Tenorite"/>
              </a:rPr>
              <a:t>thunk</a:t>
            </a:r>
            <a:r>
              <a:rPr lang="en-US" sz="2400">
                <a:solidFill>
                  <a:schemeClr val="bg1"/>
                </a:solidFill>
                <a:ea typeface="+mn-lt"/>
                <a:cs typeface="+mn-lt"/>
              </a:rPr>
              <a:t> is a popular middleware library for Redux that allows us to write asynchronous logic that interacts with the Redux store.</a:t>
            </a:r>
          </a:p>
          <a:p>
            <a:pPr marL="342900" indent="-342900">
              <a:buFont typeface="Arial"/>
              <a:buChar char="•"/>
            </a:pPr>
            <a:r>
              <a:rPr lang="en-US" sz="2400">
                <a:solidFill>
                  <a:schemeClr val="bg1"/>
                </a:solidFill>
                <a:latin typeface="Tenorite"/>
              </a:rPr>
              <a:t>It</a:t>
            </a:r>
            <a:r>
              <a:rPr lang="en-US" sz="2400">
                <a:solidFill>
                  <a:schemeClr val="bg1"/>
                </a:solidFill>
                <a:ea typeface="+mn-lt"/>
                <a:cs typeface="+mn-lt"/>
              </a:rPr>
              <a:t> allows you to write action creators that return functions instead of plain objects.</a:t>
            </a:r>
            <a:endParaRPr lang="en-US" sz="2400">
              <a:solidFill>
                <a:schemeClr val="bg1"/>
              </a:solidFill>
            </a:endParaRPr>
          </a:p>
          <a:p>
            <a:pPr marL="342900" indent="-342900">
              <a:buFont typeface="Arial"/>
              <a:buChar char="•"/>
            </a:pPr>
            <a:r>
              <a:rPr lang="en-US" sz="2400">
                <a:solidFill>
                  <a:schemeClr val="bg1"/>
                </a:solidFill>
                <a:ea typeface="+mn-lt"/>
                <a:cs typeface="+mn-lt"/>
              </a:rPr>
              <a:t>These functions can perform asynchronous operations, such as fetching data from an API, and then dispatching normal action objects based on the result.</a:t>
            </a:r>
            <a:endParaRPr lang="en-US" sz="2400">
              <a:solidFill>
                <a:schemeClr val="bg1"/>
              </a:solidFill>
            </a:endParaRPr>
          </a:p>
        </p:txBody>
      </p:sp>
    </p:spTree>
    <p:extLst>
      <p:ext uri="{BB962C8B-B14F-4D97-AF65-F5344CB8AC3E}">
        <p14:creationId xmlns:p14="http://schemas.microsoft.com/office/powerpoint/2010/main" val="2306061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lstStyle/>
          <a:p>
            <a:r>
              <a:rPr lang="en-US"/>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366815"/>
          </a:xfrm>
        </p:spPr>
        <p:txBody>
          <a:bodyPr vert="horz" lIns="91440" tIns="45720" rIns="91440" bIns="45720" rtlCol="0" anchor="t">
            <a:normAutofit/>
          </a:bodyPr>
          <a:lstStyle/>
          <a:p>
            <a:pPr marL="457200" indent="-457200">
              <a:buChar char="•"/>
            </a:pPr>
            <a:r>
              <a:rPr lang="en-US" dirty="0"/>
              <a:t>Redux hooks</a:t>
            </a:r>
          </a:p>
          <a:p>
            <a:pPr marL="457200" indent="-457200">
              <a:buChar char="•"/>
            </a:pPr>
            <a:r>
              <a:rPr lang="en-US" dirty="0"/>
              <a:t>Redux </a:t>
            </a:r>
            <a:r>
              <a:rPr lang="en-US" dirty="0" err="1"/>
              <a:t>devTools</a:t>
            </a:r>
            <a:endParaRPr lang="en-US" dirty="0"/>
          </a:p>
          <a:p>
            <a:pPr marL="457200" indent="-457200">
              <a:buChar char="•"/>
            </a:pPr>
            <a:r>
              <a:rPr lang="en-US" dirty="0">
                <a:ea typeface="+mn-lt"/>
                <a:cs typeface="+mn-lt"/>
              </a:rPr>
              <a:t>Generator Function</a:t>
            </a:r>
            <a:endParaRPr lang="en-US" dirty="0"/>
          </a:p>
          <a:p>
            <a:pPr marL="457200" indent="-457200">
              <a:buChar char="•"/>
            </a:pPr>
            <a:r>
              <a:rPr lang="en-US" dirty="0"/>
              <a:t>Redux Saga Overview</a:t>
            </a:r>
          </a:p>
          <a:p>
            <a:pPr marL="457200" indent="-457200">
              <a:buChar char="•"/>
            </a:pPr>
            <a:r>
              <a:rPr lang="en-US" dirty="0"/>
              <a:t>Hands-on with Redux saga</a:t>
            </a:r>
          </a:p>
          <a:p>
            <a:endParaRPr lang="en-US"/>
          </a:p>
          <a:p>
            <a:endParaRPr lang="en-US"/>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lstStyle/>
          <a:p>
            <a:r>
              <a:rPr lang="en-US"/>
              <a:t>19-04-23</a:t>
            </a:r>
          </a:p>
        </p:txBody>
      </p:sp>
      <p:sp>
        <p:nvSpPr>
          <p:cNvPr id="6" name="Slide Number Placeholder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13</a:t>
            </a:fld>
            <a:endParaRPr lang="en-US"/>
          </a:p>
        </p:txBody>
      </p:sp>
    </p:spTree>
    <p:extLst>
      <p:ext uri="{BB962C8B-B14F-4D97-AF65-F5344CB8AC3E}">
        <p14:creationId xmlns:p14="http://schemas.microsoft.com/office/powerpoint/2010/main" val="3091420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a:t>Redux Hooks</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14</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646043" y="2352260"/>
            <a:ext cx="960230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dirty="0" err="1">
                <a:solidFill>
                  <a:srgbClr val="FFFFFF"/>
                </a:solidFill>
                <a:latin typeface="Arial"/>
                <a:cs typeface="Arial"/>
              </a:rPr>
              <a:t>useSelector</a:t>
            </a:r>
            <a:r>
              <a:rPr lang="en-US" sz="2000" b="1" dirty="0">
                <a:solidFill>
                  <a:srgbClr val="FFFFFF"/>
                </a:solidFill>
                <a:latin typeface="Arial"/>
                <a:ea typeface="+mn-lt"/>
                <a:cs typeface="Arial"/>
              </a:rPr>
              <a:t>:</a:t>
            </a:r>
            <a:r>
              <a:rPr lang="en-US" sz="2000" dirty="0">
                <a:solidFill>
                  <a:srgbClr val="FFFFFF"/>
                </a:solidFill>
                <a:latin typeface="Arial"/>
                <a:ea typeface="+mn-lt"/>
                <a:cs typeface="Arial"/>
              </a:rPr>
              <a:t> This hook allows us to select a slice of the Redux store state and subscribe to updates. It takes a function that returns the desired slice of the state, and returns that slice whenever it changes.</a:t>
            </a:r>
            <a:endParaRPr lang="en-US" sz="2000" dirty="0">
              <a:solidFill>
                <a:srgbClr val="FFFFFF"/>
              </a:solidFill>
              <a:latin typeface="Tenorite"/>
              <a:ea typeface="+mn-lt"/>
              <a:cs typeface="Arial"/>
            </a:endParaRPr>
          </a:p>
          <a:p>
            <a:endParaRPr lang="en-US" sz="2000">
              <a:solidFill>
                <a:srgbClr val="FFFFFF"/>
              </a:solidFill>
              <a:latin typeface="Arial"/>
              <a:ea typeface="+mn-lt"/>
              <a:cs typeface="Arial"/>
            </a:endParaRPr>
          </a:p>
          <a:p>
            <a:pPr marL="285750" indent="-285750">
              <a:buFont typeface="Arial"/>
              <a:buChar char="•"/>
            </a:pPr>
            <a:r>
              <a:rPr lang="en-US" sz="2000" b="1" dirty="0" err="1">
                <a:solidFill>
                  <a:srgbClr val="FFFFFF"/>
                </a:solidFill>
                <a:latin typeface="Arial"/>
                <a:ea typeface="+mn-lt"/>
                <a:cs typeface="Arial"/>
              </a:rPr>
              <a:t>useDispatch</a:t>
            </a:r>
            <a:r>
              <a:rPr lang="en-US" sz="2000" b="1" dirty="0">
                <a:solidFill>
                  <a:srgbClr val="FFFFFF"/>
                </a:solidFill>
                <a:latin typeface="Arial"/>
                <a:ea typeface="+mn-lt"/>
                <a:cs typeface="Arial"/>
              </a:rPr>
              <a:t>:</a:t>
            </a:r>
            <a:r>
              <a:rPr lang="en-US" sz="2000" dirty="0">
                <a:solidFill>
                  <a:srgbClr val="FFFFFF"/>
                </a:solidFill>
                <a:latin typeface="Arial"/>
                <a:ea typeface="+mn-lt"/>
                <a:cs typeface="Arial"/>
              </a:rPr>
              <a:t> This hook returns the dispatch function of the Redux store, which we can use to dispatch actions. It's typically used to trigger state changes in response to user interactions or other events.</a:t>
            </a:r>
            <a:endParaRPr lang="en-US" dirty="0"/>
          </a:p>
          <a:p>
            <a:pPr marL="285750" indent="-285750">
              <a:buFont typeface="Arial"/>
              <a:buChar char="•"/>
            </a:pPr>
            <a:endParaRPr lang="en-US" sz="2000" b="1">
              <a:solidFill>
                <a:srgbClr val="FFFFFF"/>
              </a:solidFill>
              <a:latin typeface="Arial"/>
              <a:ea typeface="+mn-lt"/>
              <a:cs typeface="Arial"/>
            </a:endParaRPr>
          </a:p>
          <a:p>
            <a:pPr marL="285750" indent="-285750">
              <a:buFont typeface="Arial"/>
              <a:buChar char="•"/>
            </a:pPr>
            <a:r>
              <a:rPr lang="en-US" sz="2000" b="1" dirty="0" err="1">
                <a:solidFill>
                  <a:srgbClr val="FFFFFF"/>
                </a:solidFill>
                <a:latin typeface="Arial"/>
                <a:ea typeface="+mn-lt"/>
                <a:cs typeface="Arial"/>
              </a:rPr>
              <a:t>useStore</a:t>
            </a:r>
            <a:r>
              <a:rPr lang="en-US" sz="2000" b="1" dirty="0">
                <a:solidFill>
                  <a:srgbClr val="FFFFFF"/>
                </a:solidFill>
                <a:latin typeface="Arial"/>
                <a:ea typeface="+mn-lt"/>
                <a:cs typeface="Arial"/>
              </a:rPr>
              <a:t>:</a:t>
            </a:r>
            <a:r>
              <a:rPr lang="en-US" sz="2000" dirty="0">
                <a:solidFill>
                  <a:srgbClr val="FFFFFF"/>
                </a:solidFill>
                <a:latin typeface="Arial"/>
                <a:ea typeface="+mn-lt"/>
                <a:cs typeface="Arial"/>
              </a:rPr>
              <a:t> This hook returns the Redux store object, which we can use to interact with the store directly. </a:t>
            </a:r>
            <a:endParaRPr lang="en-US" sz="2000">
              <a:solidFill>
                <a:srgbClr val="FFFFFF"/>
              </a:solidFill>
              <a:latin typeface="Arial"/>
              <a:cs typeface="Arial"/>
            </a:endParaRPr>
          </a:p>
        </p:txBody>
      </p:sp>
    </p:spTree>
    <p:extLst>
      <p:ext uri="{BB962C8B-B14F-4D97-AF65-F5344CB8AC3E}">
        <p14:creationId xmlns:p14="http://schemas.microsoft.com/office/powerpoint/2010/main" val="3622354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a:t>Generator Functions</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15</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646043" y="2352260"/>
            <a:ext cx="960230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400">
                <a:solidFill>
                  <a:srgbClr val="FFFFFF"/>
                </a:solidFill>
                <a:latin typeface="Arial"/>
                <a:cs typeface="Arial"/>
              </a:rPr>
              <a:t>A generator function </a:t>
            </a:r>
            <a:r>
              <a:rPr lang="en-US" sz="1400">
                <a:solidFill>
                  <a:srgbClr val="FFFFFF"/>
                </a:solidFill>
                <a:latin typeface="Arial"/>
                <a:ea typeface="+mn-lt"/>
                <a:cs typeface="Arial"/>
              </a:rPr>
              <a:t>is a special type of function in JavaScript that allows you to pause and resume its execution at arbitrary points in the function code. When a generator function is called, it returns a generator object which can be used to control its execution.</a:t>
            </a:r>
            <a:endParaRPr lang="en-US" sz="1400">
              <a:solidFill>
                <a:srgbClr val="FFFFFF"/>
              </a:solidFill>
            </a:endParaRPr>
          </a:p>
          <a:p>
            <a:pPr marL="285750" indent="-285750">
              <a:buFont typeface="Arial"/>
              <a:buChar char="•"/>
            </a:pPr>
            <a:r>
              <a:rPr lang="en-US" sz="1400">
                <a:solidFill>
                  <a:srgbClr val="FFFFFF"/>
                </a:solidFill>
                <a:latin typeface="Arial"/>
                <a:ea typeface="+mn-lt"/>
                <a:cs typeface="Arial"/>
              </a:rPr>
              <a:t>The execution of a generator function can be paused using the </a:t>
            </a:r>
            <a:r>
              <a:rPr lang="en-US" sz="1400">
                <a:solidFill>
                  <a:srgbClr val="FFFFFF"/>
                </a:solidFill>
                <a:latin typeface="Arial"/>
                <a:cs typeface="Arial"/>
              </a:rPr>
              <a:t>yield</a:t>
            </a:r>
            <a:r>
              <a:rPr lang="en-US" sz="1400">
                <a:solidFill>
                  <a:srgbClr val="FFFFFF"/>
                </a:solidFill>
                <a:latin typeface="Arial"/>
                <a:ea typeface="+mn-lt"/>
                <a:cs typeface="Arial"/>
              </a:rPr>
              <a:t> keyword. When a yield statement is encountered, the function execution is paused, and the value of the yield statement is returned to the caller. The next time the generator is resumed, execution continues from where it left off.</a:t>
            </a:r>
            <a:br>
              <a:rPr lang="en-US" sz="1400">
                <a:solidFill>
                  <a:srgbClr val="FFFFFF"/>
                </a:solidFill>
              </a:rPr>
            </a:br>
            <a:endParaRPr lang="en-US" sz="1400">
              <a:solidFill>
                <a:srgbClr val="FFFFFF"/>
              </a:solidFill>
            </a:endParaRPr>
          </a:p>
          <a:p>
            <a:r>
              <a:rPr lang="en-US" sz="1400">
                <a:solidFill>
                  <a:srgbClr val="FFFFFF"/>
                </a:solidFill>
                <a:latin typeface="Arial"/>
                <a:ea typeface="+mn-lt"/>
                <a:cs typeface="Arial"/>
              </a:rPr>
              <a:t>function* </a:t>
            </a:r>
            <a:r>
              <a:rPr lang="en-US" sz="1400" err="1">
                <a:solidFill>
                  <a:srgbClr val="FFFFFF"/>
                </a:solidFill>
                <a:latin typeface="Arial"/>
                <a:ea typeface="+mn-lt"/>
                <a:cs typeface="Arial"/>
              </a:rPr>
              <a:t>myGenerator</a:t>
            </a:r>
            <a:r>
              <a:rPr lang="en-US" sz="1400">
                <a:solidFill>
                  <a:srgbClr val="FFFFFF"/>
                </a:solidFill>
                <a:latin typeface="Arial"/>
                <a:ea typeface="+mn-lt"/>
                <a:cs typeface="Arial"/>
              </a:rPr>
              <a:t>() {</a:t>
            </a:r>
            <a:endParaRPr lang="en-US" sz="1400">
              <a:solidFill>
                <a:srgbClr val="FFFFFF"/>
              </a:solidFill>
            </a:endParaRPr>
          </a:p>
          <a:p>
            <a:r>
              <a:rPr lang="en-US" sz="1400">
                <a:solidFill>
                  <a:srgbClr val="FFFFFF"/>
                </a:solidFill>
                <a:latin typeface="Arial"/>
                <a:ea typeface="+mn-lt"/>
                <a:cs typeface="Arial"/>
              </a:rPr>
              <a:t>  yield 1;</a:t>
            </a:r>
            <a:endParaRPr lang="en-US" sz="1400">
              <a:solidFill>
                <a:srgbClr val="FFFFFF"/>
              </a:solidFill>
            </a:endParaRPr>
          </a:p>
          <a:p>
            <a:r>
              <a:rPr lang="en-US" sz="1400">
                <a:solidFill>
                  <a:srgbClr val="FFFFFF"/>
                </a:solidFill>
                <a:latin typeface="Arial"/>
                <a:ea typeface="+mn-lt"/>
                <a:cs typeface="Arial"/>
              </a:rPr>
              <a:t>  yield 2;</a:t>
            </a:r>
            <a:endParaRPr lang="en-US" sz="1400">
              <a:solidFill>
                <a:srgbClr val="FFFFFF"/>
              </a:solidFill>
            </a:endParaRPr>
          </a:p>
          <a:p>
            <a:r>
              <a:rPr lang="en-US" sz="1400">
                <a:solidFill>
                  <a:srgbClr val="FFFFFF"/>
                </a:solidFill>
                <a:latin typeface="Arial"/>
                <a:ea typeface="+mn-lt"/>
                <a:cs typeface="Arial"/>
              </a:rPr>
              <a:t>  yield 3;</a:t>
            </a:r>
            <a:endParaRPr lang="en-US" sz="1400">
              <a:solidFill>
                <a:srgbClr val="FFFFFF"/>
              </a:solidFill>
            </a:endParaRPr>
          </a:p>
          <a:p>
            <a:r>
              <a:rPr lang="en-US" sz="1400">
                <a:solidFill>
                  <a:srgbClr val="FFFFFF"/>
                </a:solidFill>
                <a:latin typeface="Arial"/>
                <a:ea typeface="+mn-lt"/>
                <a:cs typeface="Arial"/>
              </a:rPr>
              <a:t>}</a:t>
            </a:r>
            <a:endParaRPr lang="en-US" sz="1400">
              <a:solidFill>
                <a:srgbClr val="FFFFFF"/>
              </a:solidFill>
            </a:endParaRPr>
          </a:p>
          <a:p>
            <a:r>
              <a:rPr lang="en-US" sz="1400">
                <a:solidFill>
                  <a:srgbClr val="FFFFFF"/>
                </a:solidFill>
                <a:latin typeface="Arial"/>
                <a:ea typeface="+mn-lt"/>
                <a:cs typeface="Arial"/>
              </a:rPr>
              <a:t>const generator = </a:t>
            </a:r>
            <a:r>
              <a:rPr lang="en-US" sz="1400" err="1">
                <a:solidFill>
                  <a:srgbClr val="FFFFFF"/>
                </a:solidFill>
                <a:latin typeface="Arial"/>
                <a:ea typeface="+mn-lt"/>
                <a:cs typeface="Arial"/>
              </a:rPr>
              <a:t>myGenerator</a:t>
            </a:r>
            <a:r>
              <a:rPr lang="en-US" sz="1400">
                <a:solidFill>
                  <a:srgbClr val="FFFFFF"/>
                </a:solidFill>
                <a:latin typeface="Arial"/>
                <a:ea typeface="+mn-lt"/>
                <a:cs typeface="Arial"/>
              </a:rPr>
              <a:t>();</a:t>
            </a:r>
            <a:endParaRPr lang="en-US" sz="1400">
              <a:solidFill>
                <a:srgbClr val="FFFFFF"/>
              </a:solidFill>
            </a:endParaRPr>
          </a:p>
          <a:p>
            <a:r>
              <a:rPr lang="en-US" sz="1400">
                <a:solidFill>
                  <a:srgbClr val="FFFFFF"/>
                </a:solidFill>
                <a:latin typeface="Arial"/>
                <a:ea typeface="+mn-lt"/>
                <a:cs typeface="Arial"/>
              </a:rPr>
              <a:t>console.log(</a:t>
            </a:r>
            <a:r>
              <a:rPr lang="en-US" sz="1400" err="1">
                <a:solidFill>
                  <a:srgbClr val="FFFFFF"/>
                </a:solidFill>
                <a:latin typeface="Arial"/>
                <a:ea typeface="+mn-lt"/>
                <a:cs typeface="Arial"/>
              </a:rPr>
              <a:t>generator.next</a:t>
            </a:r>
            <a:r>
              <a:rPr lang="en-US" sz="1400">
                <a:solidFill>
                  <a:srgbClr val="FFFFFF"/>
                </a:solidFill>
                <a:latin typeface="Arial"/>
                <a:ea typeface="+mn-lt"/>
                <a:cs typeface="Arial"/>
              </a:rPr>
              <a:t>()); // { value: 1, done: false }</a:t>
            </a:r>
            <a:endParaRPr lang="en-US" sz="1400">
              <a:solidFill>
                <a:srgbClr val="FFFFFF"/>
              </a:solidFill>
            </a:endParaRPr>
          </a:p>
          <a:p>
            <a:r>
              <a:rPr lang="en-US" sz="1400">
                <a:solidFill>
                  <a:srgbClr val="FFFFFF"/>
                </a:solidFill>
                <a:latin typeface="Arial"/>
                <a:ea typeface="+mn-lt"/>
                <a:cs typeface="Arial"/>
              </a:rPr>
              <a:t>console.log(</a:t>
            </a:r>
            <a:r>
              <a:rPr lang="en-US" sz="1400" err="1">
                <a:solidFill>
                  <a:srgbClr val="FFFFFF"/>
                </a:solidFill>
                <a:latin typeface="Arial"/>
                <a:ea typeface="+mn-lt"/>
                <a:cs typeface="Arial"/>
              </a:rPr>
              <a:t>generator.next</a:t>
            </a:r>
            <a:r>
              <a:rPr lang="en-US" sz="1400">
                <a:solidFill>
                  <a:srgbClr val="FFFFFF"/>
                </a:solidFill>
                <a:latin typeface="Arial"/>
                <a:ea typeface="+mn-lt"/>
                <a:cs typeface="Arial"/>
              </a:rPr>
              <a:t>()); // { value: 2, done: false }</a:t>
            </a:r>
            <a:endParaRPr lang="en-US" sz="1400">
              <a:solidFill>
                <a:srgbClr val="FFFFFF"/>
              </a:solidFill>
            </a:endParaRPr>
          </a:p>
          <a:p>
            <a:r>
              <a:rPr lang="en-US" sz="1400">
                <a:solidFill>
                  <a:srgbClr val="FFFFFF"/>
                </a:solidFill>
                <a:latin typeface="Arial"/>
                <a:ea typeface="+mn-lt"/>
                <a:cs typeface="Arial"/>
              </a:rPr>
              <a:t>console.log(</a:t>
            </a:r>
            <a:r>
              <a:rPr lang="en-US" sz="1400" err="1">
                <a:solidFill>
                  <a:srgbClr val="FFFFFF"/>
                </a:solidFill>
                <a:latin typeface="Arial"/>
                <a:ea typeface="+mn-lt"/>
                <a:cs typeface="Arial"/>
              </a:rPr>
              <a:t>generator.next</a:t>
            </a:r>
            <a:r>
              <a:rPr lang="en-US" sz="1400">
                <a:solidFill>
                  <a:srgbClr val="FFFFFF"/>
                </a:solidFill>
                <a:latin typeface="Arial"/>
                <a:ea typeface="+mn-lt"/>
                <a:cs typeface="Arial"/>
              </a:rPr>
              <a:t>()); // { value: 3, done: false }</a:t>
            </a:r>
            <a:endParaRPr lang="en-US" sz="1400">
              <a:solidFill>
                <a:srgbClr val="FFFFFF"/>
              </a:solidFill>
            </a:endParaRPr>
          </a:p>
          <a:p>
            <a:r>
              <a:rPr lang="en-US" sz="1400">
                <a:solidFill>
                  <a:srgbClr val="FFFFFF"/>
                </a:solidFill>
                <a:latin typeface="Arial"/>
                <a:ea typeface="+mn-lt"/>
                <a:cs typeface="Arial"/>
              </a:rPr>
              <a:t>console.log(</a:t>
            </a:r>
            <a:r>
              <a:rPr lang="en-US" sz="1400" err="1">
                <a:solidFill>
                  <a:srgbClr val="FFFFFF"/>
                </a:solidFill>
                <a:latin typeface="Arial"/>
                <a:ea typeface="+mn-lt"/>
                <a:cs typeface="Arial"/>
              </a:rPr>
              <a:t>generator.next</a:t>
            </a:r>
            <a:r>
              <a:rPr lang="en-US" sz="1400">
                <a:solidFill>
                  <a:srgbClr val="FFFFFF"/>
                </a:solidFill>
                <a:latin typeface="Arial"/>
                <a:ea typeface="+mn-lt"/>
                <a:cs typeface="Arial"/>
              </a:rPr>
              <a:t>()); // { value: undefined, done: true }</a:t>
            </a:r>
            <a:endParaRPr lang="en-US" sz="1400">
              <a:solidFill>
                <a:srgbClr val="FFFFFF"/>
              </a:solidFill>
            </a:endParaRPr>
          </a:p>
          <a:p>
            <a:pPr marL="285750" indent="-285750">
              <a:buFont typeface="Arial"/>
              <a:buChar char="•"/>
            </a:pPr>
            <a:endParaRPr lang="en-US" sz="1400">
              <a:solidFill>
                <a:srgbClr val="FFFFFF"/>
              </a:solidFill>
            </a:endParaRPr>
          </a:p>
          <a:p>
            <a:pPr marL="285750" indent="-285750">
              <a:buFont typeface="Arial"/>
              <a:buChar char="•"/>
            </a:pPr>
            <a:r>
              <a:rPr lang="en-US" sz="1400">
                <a:solidFill>
                  <a:srgbClr val="FFFFFF"/>
                </a:solidFill>
                <a:latin typeface="Arial"/>
                <a:ea typeface="+mn-lt"/>
                <a:cs typeface="Arial"/>
              </a:rPr>
              <a:t>Generator functions are commonly used in libraries such as redux-saga to implement complex asynchronous flows in a readable and manageable way.</a:t>
            </a:r>
            <a:endParaRPr lang="en-US" sz="1400">
              <a:solidFill>
                <a:srgbClr val="FFFFFF"/>
              </a:solidFill>
              <a:latin typeface="Arial"/>
              <a:cs typeface="Arial"/>
            </a:endParaRPr>
          </a:p>
        </p:txBody>
      </p:sp>
    </p:spTree>
    <p:extLst>
      <p:ext uri="{BB962C8B-B14F-4D97-AF65-F5344CB8AC3E}">
        <p14:creationId xmlns:p14="http://schemas.microsoft.com/office/powerpoint/2010/main" val="25796725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a:t>Generator Functions</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16</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646043" y="2352260"/>
            <a:ext cx="9602303"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b="1">
                <a:solidFill>
                  <a:srgbClr val="FFFFFF"/>
                </a:solidFill>
                <a:latin typeface="Arial"/>
                <a:cs typeface="Arial"/>
              </a:rPr>
              <a:t>yield</a:t>
            </a:r>
            <a:r>
              <a:rPr lang="en-US" sz="2000" b="1">
                <a:solidFill>
                  <a:srgbClr val="FFFFFF"/>
                </a:solidFill>
                <a:latin typeface="Arial"/>
                <a:ea typeface="+mn-lt"/>
                <a:cs typeface="Arial"/>
              </a:rPr>
              <a:t>:</a:t>
            </a:r>
            <a:r>
              <a:rPr lang="en-US" sz="2000">
                <a:solidFill>
                  <a:srgbClr val="FFFFFF"/>
                </a:solidFill>
                <a:latin typeface="Arial"/>
                <a:ea typeface="+mn-lt"/>
                <a:cs typeface="Arial"/>
              </a:rPr>
              <a:t> This is a keyword used in a generator function to pause the execution of the function and return a value to the caller. When the function is resumed, it picks up from where it left off.</a:t>
            </a:r>
            <a:endParaRPr lang="en-US" sz="2000">
              <a:solidFill>
                <a:srgbClr val="FFFFFF"/>
              </a:solidFill>
              <a:latin typeface="Tenorite"/>
              <a:ea typeface="+mn-lt"/>
              <a:cs typeface="Arial"/>
            </a:endParaRPr>
          </a:p>
          <a:p>
            <a:pPr marL="285750" indent="-285750">
              <a:buFont typeface="Arial"/>
              <a:buChar char="•"/>
            </a:pPr>
            <a:endParaRPr lang="en-US" sz="2000">
              <a:solidFill>
                <a:srgbClr val="FFFFFF"/>
              </a:solidFill>
              <a:latin typeface="Arial"/>
              <a:ea typeface="+mn-lt"/>
              <a:cs typeface="Arial"/>
            </a:endParaRPr>
          </a:p>
          <a:p>
            <a:pPr marL="285750" indent="-285750">
              <a:buFont typeface="Arial"/>
              <a:buChar char="•"/>
            </a:pPr>
            <a:r>
              <a:rPr lang="en-US" sz="2000" b="1" err="1">
                <a:solidFill>
                  <a:srgbClr val="FFFFFF"/>
                </a:solidFill>
                <a:latin typeface="Arial"/>
                <a:ea typeface="+mn-lt"/>
                <a:cs typeface="Arial"/>
              </a:rPr>
              <a:t>takeLatest</a:t>
            </a:r>
            <a:r>
              <a:rPr lang="en-US" sz="2000" b="1">
                <a:solidFill>
                  <a:srgbClr val="FFFFFF"/>
                </a:solidFill>
                <a:latin typeface="Arial"/>
                <a:ea typeface="+mn-lt"/>
                <a:cs typeface="Arial"/>
              </a:rPr>
              <a:t>:</a:t>
            </a:r>
            <a:r>
              <a:rPr lang="en-US" sz="2000">
                <a:solidFill>
                  <a:srgbClr val="FFFFFF"/>
                </a:solidFill>
                <a:latin typeface="Arial"/>
                <a:ea typeface="+mn-lt"/>
                <a:cs typeface="Arial"/>
              </a:rPr>
              <a:t> This is a function that listens for a specific action and automatically cancels any previous requests that haven't finished yet. It only returns the latest request, which is the one that will be processed.</a:t>
            </a:r>
            <a:endParaRPr lang="en-US" sz="2000"/>
          </a:p>
          <a:p>
            <a:pPr marL="285750" indent="-285750">
              <a:buFont typeface="Arial"/>
              <a:buChar char="•"/>
            </a:pPr>
            <a:endParaRPr lang="en-US" sz="2000">
              <a:solidFill>
                <a:srgbClr val="FFFFFF"/>
              </a:solidFill>
              <a:latin typeface="Arial"/>
              <a:ea typeface="+mn-lt"/>
              <a:cs typeface="Arial"/>
            </a:endParaRPr>
          </a:p>
          <a:p>
            <a:pPr marL="285750" indent="-285750">
              <a:buFont typeface="Arial"/>
              <a:buChar char="•"/>
            </a:pPr>
            <a:r>
              <a:rPr lang="en-US" sz="2000" b="1">
                <a:solidFill>
                  <a:srgbClr val="FFFFFF"/>
                </a:solidFill>
                <a:latin typeface="Arial"/>
                <a:ea typeface="+mn-lt"/>
                <a:cs typeface="Arial"/>
              </a:rPr>
              <a:t>all:</a:t>
            </a:r>
            <a:r>
              <a:rPr lang="en-US" sz="2000">
                <a:solidFill>
                  <a:srgbClr val="FFFFFF"/>
                </a:solidFill>
                <a:latin typeface="Arial"/>
                <a:ea typeface="+mn-lt"/>
                <a:cs typeface="Arial"/>
              </a:rPr>
              <a:t> This is a function that takes an array of sagas and runs them in parallel. It's useful when we have multiple sagas that need to be run concurrently.</a:t>
            </a:r>
            <a:endParaRPr lang="en-US" sz="2000"/>
          </a:p>
          <a:p>
            <a:pPr marL="285750" indent="-285750">
              <a:buFont typeface="Arial"/>
              <a:buChar char="•"/>
            </a:pPr>
            <a:endParaRPr lang="en-US" sz="2000">
              <a:solidFill>
                <a:srgbClr val="FFFFFF"/>
              </a:solidFill>
              <a:latin typeface="Arial"/>
              <a:ea typeface="+mn-lt"/>
              <a:cs typeface="Arial"/>
            </a:endParaRPr>
          </a:p>
          <a:p>
            <a:pPr marL="285750" indent="-285750">
              <a:buFont typeface="Arial"/>
              <a:buChar char="•"/>
            </a:pPr>
            <a:r>
              <a:rPr lang="en-US" sz="2000" b="1">
                <a:solidFill>
                  <a:srgbClr val="FFFFFF"/>
                </a:solidFill>
                <a:latin typeface="Arial"/>
                <a:ea typeface="+mn-lt"/>
                <a:cs typeface="Arial"/>
              </a:rPr>
              <a:t>put:</a:t>
            </a:r>
            <a:r>
              <a:rPr lang="en-US" sz="2000">
                <a:solidFill>
                  <a:srgbClr val="FFFFFF"/>
                </a:solidFill>
                <a:latin typeface="Arial"/>
                <a:ea typeface="+mn-lt"/>
                <a:cs typeface="Arial"/>
              </a:rPr>
              <a:t> This is a function that dispatches an action to the Redux store. It's typically used to trigger a state change in response to a successful asynchronous operation.</a:t>
            </a:r>
            <a:endParaRPr lang="en-US" sz="2000"/>
          </a:p>
        </p:txBody>
      </p:sp>
    </p:spTree>
    <p:extLst>
      <p:ext uri="{BB962C8B-B14F-4D97-AF65-F5344CB8AC3E}">
        <p14:creationId xmlns:p14="http://schemas.microsoft.com/office/powerpoint/2010/main" val="32820185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a:t>Redux Saga</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17</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712304" y="2551043"/>
            <a:ext cx="9480827"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solidFill>
                  <a:schemeClr val="bg1"/>
                </a:solidFill>
                <a:latin typeface="Tenorite"/>
              </a:rPr>
              <a:t>redux-saga</a:t>
            </a:r>
            <a:r>
              <a:rPr lang="en-US" sz="2400">
                <a:solidFill>
                  <a:schemeClr val="bg1"/>
                </a:solidFill>
                <a:ea typeface="+mn-lt"/>
                <a:cs typeface="+mn-lt"/>
              </a:rPr>
              <a:t> is a middleware that uses a generator functions to handle side effects in a Redux application.</a:t>
            </a:r>
          </a:p>
          <a:p>
            <a:pPr marL="342900" indent="-342900">
              <a:buFont typeface="Arial"/>
              <a:buChar char="•"/>
            </a:pPr>
            <a:r>
              <a:rPr lang="en-US" sz="2400">
                <a:solidFill>
                  <a:schemeClr val="bg1"/>
                </a:solidFill>
                <a:ea typeface="+mn-lt"/>
                <a:cs typeface="+mn-lt"/>
              </a:rPr>
              <a:t>The generator function, called a saga, listens for dispatched actions and can perform asynchronous operations using the </a:t>
            </a:r>
            <a:r>
              <a:rPr lang="en-US" sz="2400">
                <a:solidFill>
                  <a:schemeClr val="bg1"/>
                </a:solidFill>
                <a:latin typeface="Tenorite"/>
              </a:rPr>
              <a:t>yield</a:t>
            </a:r>
            <a:r>
              <a:rPr lang="en-US" sz="2400">
                <a:solidFill>
                  <a:schemeClr val="bg1"/>
                </a:solidFill>
                <a:ea typeface="+mn-lt"/>
                <a:cs typeface="+mn-lt"/>
              </a:rPr>
              <a:t> keyword.</a:t>
            </a:r>
            <a:endParaRPr lang="en-US" sz="2400">
              <a:solidFill>
                <a:schemeClr val="bg1"/>
              </a:solidFill>
            </a:endParaRPr>
          </a:p>
          <a:p>
            <a:pPr marL="342900" indent="-342900">
              <a:buFont typeface="Arial"/>
              <a:buChar char="•"/>
            </a:pPr>
            <a:r>
              <a:rPr lang="en-US" sz="2400">
                <a:solidFill>
                  <a:schemeClr val="bg1"/>
                </a:solidFill>
                <a:ea typeface="+mn-lt"/>
                <a:cs typeface="+mn-lt"/>
              </a:rPr>
              <a:t>Sagas can also intercept actions, cancel ongoing operations, and dispatch new actions in response to external events.</a:t>
            </a:r>
            <a:endParaRPr lang="en-US" sz="2400">
              <a:solidFill>
                <a:schemeClr val="bg1"/>
              </a:solidFill>
            </a:endParaRPr>
          </a:p>
          <a:p>
            <a:pPr marL="342900" indent="-342900">
              <a:buFont typeface="Arial"/>
              <a:buChar char="•"/>
            </a:pPr>
            <a:r>
              <a:rPr lang="en-US" sz="2400">
                <a:solidFill>
                  <a:schemeClr val="bg1"/>
                </a:solidFill>
                <a:ea typeface="+mn-lt"/>
                <a:cs typeface="+mn-lt"/>
              </a:rPr>
              <a:t>Sagas are written using a declarative syntax, making it easier to reason about complex asynchronous flows in your application.</a:t>
            </a:r>
            <a:endParaRPr lang="en-US" sz="2400">
              <a:solidFill>
                <a:schemeClr val="bg1"/>
              </a:solidFill>
            </a:endParaRPr>
          </a:p>
        </p:txBody>
      </p:sp>
    </p:spTree>
    <p:extLst>
      <p:ext uri="{BB962C8B-B14F-4D97-AF65-F5344CB8AC3E}">
        <p14:creationId xmlns:p14="http://schemas.microsoft.com/office/powerpoint/2010/main" val="1442536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67492" y="381000"/>
            <a:ext cx="9779183" cy="1325563"/>
          </a:xfrm>
        </p:spPr>
        <p:txBody>
          <a:bodyPr/>
          <a:lstStyle/>
          <a:p>
            <a:r>
              <a:rPr lang="en-US"/>
              <a:t>Agenda</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67493" y="2017467"/>
            <a:ext cx="9779182" cy="3366815"/>
          </a:xfrm>
        </p:spPr>
        <p:txBody>
          <a:bodyPr vert="horz" lIns="91440" tIns="45720" rIns="91440" bIns="45720" rtlCol="0" anchor="t">
            <a:normAutofit/>
          </a:bodyPr>
          <a:lstStyle/>
          <a:p>
            <a:pPr marL="457200" indent="-457200">
              <a:buChar char="•"/>
            </a:pPr>
            <a:r>
              <a:rPr lang="en-US" dirty="0"/>
              <a:t>Redux </a:t>
            </a:r>
            <a:r>
              <a:rPr lang="en-US" dirty="0" err="1"/>
              <a:t>Thunk</a:t>
            </a:r>
            <a:r>
              <a:rPr lang="en-US" dirty="0"/>
              <a:t> vs Redux Saga</a:t>
            </a:r>
          </a:p>
          <a:p>
            <a:pPr marL="457200" indent="-457200">
              <a:buChar char="•"/>
            </a:pPr>
            <a:r>
              <a:rPr lang="en-US" dirty="0"/>
              <a:t>Hands-on with Redux </a:t>
            </a:r>
            <a:r>
              <a:rPr lang="en-US" dirty="0" err="1"/>
              <a:t>ToolKit</a:t>
            </a:r>
            <a:endParaRPr lang="en-US" dirty="0"/>
          </a:p>
          <a:p>
            <a:endParaRPr lang="en-US"/>
          </a:p>
        </p:txBody>
      </p:sp>
      <p:sp>
        <p:nvSpPr>
          <p:cNvPr id="5" name="Footer Placeholder 4">
            <a:extLst>
              <a:ext uri="{FF2B5EF4-FFF2-40B4-BE49-F238E27FC236}">
                <a16:creationId xmlns:a16="http://schemas.microsoft.com/office/drawing/2014/main" id="{6209FEB4-4C5C-EB43-9696-7B42453DB79B}"/>
              </a:ext>
            </a:extLst>
          </p:cNvPr>
          <p:cNvSpPr>
            <a:spLocks noGrp="1"/>
          </p:cNvSpPr>
          <p:nvPr>
            <p:ph type="ftr" sz="quarter" idx="3"/>
          </p:nvPr>
        </p:nvSpPr>
        <p:spPr>
          <a:xfrm>
            <a:off x="4038600" y="6356350"/>
            <a:ext cx="4114800" cy="365125"/>
          </a:xfrm>
        </p:spPr>
        <p:txBody>
          <a:bodyPr/>
          <a:lstStyle/>
          <a:p>
            <a:r>
              <a:rPr lang="en-US" dirty="0"/>
              <a:t>20-04-23</a:t>
            </a:r>
          </a:p>
        </p:txBody>
      </p:sp>
      <p:sp>
        <p:nvSpPr>
          <p:cNvPr id="6" name="Slide Number Placeholder 5">
            <a:extLst>
              <a:ext uri="{FF2B5EF4-FFF2-40B4-BE49-F238E27FC236}">
                <a16:creationId xmlns:a16="http://schemas.microsoft.com/office/drawing/2014/main" id="{60D470D0-6D64-5E42-9515-048F8779CD5E}"/>
              </a:ext>
            </a:extLst>
          </p:cNvPr>
          <p:cNvSpPr>
            <a:spLocks noGrp="1"/>
          </p:cNvSpPr>
          <p:nvPr>
            <p:ph type="sldNum" sz="quarter" idx="4"/>
          </p:nvPr>
        </p:nvSpPr>
        <p:spPr>
          <a:xfrm>
            <a:off x="10153276" y="6356350"/>
            <a:ext cx="1657723" cy="365125"/>
          </a:xfrm>
        </p:spPr>
        <p:txBody>
          <a:bodyPr/>
          <a:lstStyle/>
          <a:p>
            <a:fld id="{294A09A9-5501-47C1-A89A-A340965A2BE2}" type="slidenum">
              <a:rPr lang="en-US" smtClean="0"/>
              <a:pPr/>
              <a:t>18</a:t>
            </a:fld>
            <a:endParaRPr lang="en-US"/>
          </a:p>
        </p:txBody>
      </p:sp>
    </p:spTree>
    <p:extLst>
      <p:ext uri="{BB962C8B-B14F-4D97-AF65-F5344CB8AC3E}">
        <p14:creationId xmlns:p14="http://schemas.microsoft.com/office/powerpoint/2010/main" val="4126569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a:off x="1167492" y="381000"/>
            <a:ext cx="9779183" cy="1325563"/>
          </a:xfrm>
        </p:spPr>
        <p:txBody>
          <a:bodyPr/>
          <a:lstStyle/>
          <a:p>
            <a:r>
              <a:rPr lang="en-US" dirty="0"/>
              <a:t>Redux </a:t>
            </a:r>
            <a:r>
              <a:rPr lang="en-US" dirty="0" err="1"/>
              <a:t>Thunk</a:t>
            </a:r>
            <a:r>
              <a:rPr lang="en-US" dirty="0"/>
              <a:t> vs Redux Saga</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type="body" idx="1"/>
          </p:nvPr>
        </p:nvSpPr>
        <p:spPr>
          <a:xfrm>
            <a:off x="1167492" y="2653167"/>
            <a:ext cx="9779183" cy="3436483"/>
          </a:xfrm>
        </p:spPr>
        <p:txBody>
          <a:bodyPr vert="horz" lIns="91440" tIns="45720" rIns="91440" bIns="45720" rtlCol="0" anchor="t">
            <a:normAutofit/>
          </a:bodyPr>
          <a:lstStyle/>
          <a:p>
            <a:endParaRPr lang="en-US"/>
          </a:p>
          <a:p>
            <a:endParaRPr lang="en-US"/>
          </a:p>
        </p:txBody>
      </p:sp>
      <p:sp>
        <p:nvSpPr>
          <p:cNvPr id="6" name="Slide Number Placeholder 5">
            <a:extLst>
              <a:ext uri="{FF2B5EF4-FFF2-40B4-BE49-F238E27FC236}">
                <a16:creationId xmlns:a16="http://schemas.microsoft.com/office/drawing/2014/main" id="{B25B7362-01DC-0E4C-9B34-0DF3FD449CAD}"/>
              </a:ext>
            </a:extLst>
          </p:cNvPr>
          <p:cNvSpPr>
            <a:spLocks noGrp="1"/>
          </p:cNvSpPr>
          <p:nvPr>
            <p:ph type="sldNum" sz="quarter" idx="12"/>
          </p:nvPr>
        </p:nvSpPr>
        <p:spPr>
          <a:xfrm>
            <a:off x="10206318" y="6356350"/>
            <a:ext cx="1604682" cy="365125"/>
          </a:xfrm>
        </p:spPr>
        <p:txBody>
          <a:bodyPr/>
          <a:lstStyle/>
          <a:p>
            <a:fld id="{294A09A9-5501-47C1-A89A-A340965A2BE2}" type="slidenum">
              <a:rPr lang="en-US" smtClean="0"/>
              <a:pPr/>
              <a:t>19</a:t>
            </a:fld>
            <a:endParaRPr lang="en-US"/>
          </a:p>
        </p:txBody>
      </p:sp>
      <p:sp>
        <p:nvSpPr>
          <p:cNvPr id="4" name="TextBox 3">
            <a:extLst>
              <a:ext uri="{FF2B5EF4-FFF2-40B4-BE49-F238E27FC236}">
                <a16:creationId xmlns:a16="http://schemas.microsoft.com/office/drawing/2014/main" id="{C61A228D-91E5-1A1C-EA18-CE5402C62936}"/>
              </a:ext>
            </a:extLst>
          </p:cNvPr>
          <p:cNvSpPr txBox="1"/>
          <p:nvPr/>
        </p:nvSpPr>
        <p:spPr>
          <a:xfrm>
            <a:off x="778564" y="2374347"/>
            <a:ext cx="9778999"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000" b="1">
                <a:solidFill>
                  <a:schemeClr val="bg1"/>
                </a:solidFill>
                <a:ea typeface="+mn-lt"/>
                <a:cs typeface="+mn-lt"/>
              </a:rPr>
              <a:t>Programming model:</a:t>
            </a:r>
            <a:r>
              <a:rPr lang="en-US" sz="2000">
                <a:solidFill>
                  <a:schemeClr val="bg1"/>
                </a:solidFill>
                <a:ea typeface="+mn-lt"/>
                <a:cs typeface="+mn-lt"/>
              </a:rPr>
              <a:t> </a:t>
            </a:r>
            <a:r>
              <a:rPr lang="en-US" sz="2000">
                <a:solidFill>
                  <a:schemeClr val="bg1"/>
                </a:solidFill>
                <a:latin typeface="Tenorite"/>
                <a:ea typeface="+mn-lt"/>
                <a:cs typeface="+mn-lt"/>
              </a:rPr>
              <a:t>redux-</a:t>
            </a:r>
            <a:r>
              <a:rPr lang="en-US" sz="2000" err="1">
                <a:solidFill>
                  <a:schemeClr val="bg1"/>
                </a:solidFill>
                <a:latin typeface="Tenorite"/>
                <a:ea typeface="+mn-lt"/>
                <a:cs typeface="+mn-lt"/>
              </a:rPr>
              <a:t>thunk</a:t>
            </a:r>
            <a:r>
              <a:rPr lang="en-US" sz="2000">
                <a:solidFill>
                  <a:schemeClr val="bg1"/>
                </a:solidFill>
                <a:ea typeface="+mn-lt"/>
                <a:cs typeface="+mn-lt"/>
              </a:rPr>
              <a:t> uses a simpler programming model based on synchronous actions that can return functions. In contrast, </a:t>
            </a:r>
            <a:r>
              <a:rPr lang="en-US" sz="2000">
                <a:solidFill>
                  <a:schemeClr val="bg1"/>
                </a:solidFill>
                <a:latin typeface="Tenorite"/>
                <a:ea typeface="+mn-lt"/>
                <a:cs typeface="+mn-lt"/>
              </a:rPr>
              <a:t>redux-saga</a:t>
            </a:r>
            <a:r>
              <a:rPr lang="en-US" sz="2000">
                <a:solidFill>
                  <a:schemeClr val="bg1"/>
                </a:solidFill>
                <a:ea typeface="+mn-lt"/>
                <a:cs typeface="+mn-lt"/>
              </a:rPr>
              <a:t> uses a more complex programming model based on declarative sagas that are written as generator functions using special effects.</a:t>
            </a:r>
          </a:p>
          <a:p>
            <a:pPr marL="342900" indent="-342900">
              <a:buFont typeface="Arial"/>
              <a:buChar char="•"/>
            </a:pPr>
            <a:r>
              <a:rPr lang="en-US" sz="2000" b="1">
                <a:solidFill>
                  <a:schemeClr val="bg1"/>
                </a:solidFill>
                <a:ea typeface="+mn-lt"/>
                <a:cs typeface="+mn-lt"/>
              </a:rPr>
              <a:t>Control flow:</a:t>
            </a:r>
            <a:r>
              <a:rPr lang="en-US" sz="2000">
                <a:solidFill>
                  <a:schemeClr val="bg1"/>
                </a:solidFill>
                <a:ea typeface="+mn-lt"/>
                <a:cs typeface="+mn-lt"/>
              </a:rPr>
              <a:t> With </a:t>
            </a:r>
            <a:r>
              <a:rPr lang="en-US" sz="2000">
                <a:solidFill>
                  <a:schemeClr val="bg1"/>
                </a:solidFill>
                <a:latin typeface="Tenorite"/>
              </a:rPr>
              <a:t>redux-</a:t>
            </a:r>
            <a:r>
              <a:rPr lang="en-US" sz="2000" err="1">
                <a:solidFill>
                  <a:schemeClr val="bg1"/>
                </a:solidFill>
                <a:latin typeface="Tenorite"/>
              </a:rPr>
              <a:t>thunk</a:t>
            </a:r>
            <a:r>
              <a:rPr lang="en-US" sz="2000">
                <a:solidFill>
                  <a:schemeClr val="bg1"/>
                </a:solidFill>
                <a:ea typeface="+mn-lt"/>
                <a:cs typeface="+mn-lt"/>
              </a:rPr>
              <a:t>, control flow is determined by the order in which actions are dispatched. With </a:t>
            </a:r>
            <a:r>
              <a:rPr lang="en-US" sz="2000">
                <a:solidFill>
                  <a:schemeClr val="bg1"/>
                </a:solidFill>
                <a:latin typeface="Tenorite"/>
              </a:rPr>
              <a:t>redux-saga</a:t>
            </a:r>
            <a:r>
              <a:rPr lang="en-US" sz="2000">
                <a:solidFill>
                  <a:schemeClr val="bg1"/>
                </a:solidFill>
                <a:ea typeface="+mn-lt"/>
                <a:cs typeface="+mn-lt"/>
              </a:rPr>
              <a:t>, control flow is explicitly managed by the sagas, which can take control of the flow of actions and perform advanced logic, such as race conditions and retries.</a:t>
            </a:r>
          </a:p>
          <a:p>
            <a:pPr marL="342900" indent="-342900">
              <a:buFont typeface="Arial"/>
              <a:buChar char="•"/>
            </a:pPr>
            <a:r>
              <a:rPr lang="en-US" sz="2000" b="1">
                <a:solidFill>
                  <a:schemeClr val="bg1"/>
                </a:solidFill>
              </a:rPr>
              <a:t>Use-case:</a:t>
            </a:r>
            <a:r>
              <a:rPr lang="en-US" sz="2000">
                <a:solidFill>
                  <a:schemeClr val="bg1"/>
                </a:solidFill>
              </a:rPr>
              <a:t> </a:t>
            </a:r>
            <a:r>
              <a:rPr lang="en-US" sz="2000">
                <a:solidFill>
                  <a:schemeClr val="bg1"/>
                </a:solidFill>
                <a:ea typeface="+mn-lt"/>
                <a:cs typeface="+mn-lt"/>
              </a:rPr>
              <a:t>For simple applications with straightforward asynchronous logic, </a:t>
            </a:r>
            <a:r>
              <a:rPr lang="en-US" sz="2000">
                <a:solidFill>
                  <a:schemeClr val="bg1"/>
                </a:solidFill>
                <a:latin typeface="Tenorite"/>
              </a:rPr>
              <a:t>redux-</a:t>
            </a:r>
            <a:r>
              <a:rPr lang="en-US" sz="2000" err="1">
                <a:solidFill>
                  <a:schemeClr val="bg1"/>
                </a:solidFill>
                <a:latin typeface="Tenorite"/>
              </a:rPr>
              <a:t>thunk</a:t>
            </a:r>
            <a:r>
              <a:rPr lang="en-US" sz="2000">
                <a:solidFill>
                  <a:schemeClr val="bg1"/>
                </a:solidFill>
                <a:ea typeface="+mn-lt"/>
                <a:cs typeface="+mn-lt"/>
              </a:rPr>
              <a:t> may be a good choice. For more complex applications with advanced asynchronous flows, </a:t>
            </a:r>
            <a:r>
              <a:rPr lang="en-US" sz="2000">
                <a:solidFill>
                  <a:schemeClr val="bg1"/>
                </a:solidFill>
                <a:latin typeface="Tenorite"/>
              </a:rPr>
              <a:t>redux-saga</a:t>
            </a:r>
            <a:r>
              <a:rPr lang="en-US" sz="2000">
                <a:solidFill>
                  <a:schemeClr val="bg1"/>
                </a:solidFill>
                <a:ea typeface="+mn-lt"/>
                <a:cs typeface="+mn-lt"/>
              </a:rPr>
              <a:t> may provide more power and flexibility.</a:t>
            </a:r>
            <a:endParaRPr lang="en-US" sz="2000">
              <a:solidFill>
                <a:schemeClr val="bg1"/>
              </a:solidFill>
            </a:endParaRPr>
          </a:p>
          <a:p>
            <a:pPr marL="285750" indent="-285750">
              <a:buFont typeface="Arial"/>
              <a:buChar char="•"/>
            </a:pPr>
            <a:r>
              <a:rPr lang="en-US" sz="2000" b="1">
                <a:solidFill>
                  <a:schemeClr val="bg1"/>
                </a:solidFill>
                <a:ea typeface="+mn-lt"/>
                <a:cs typeface="+mn-lt"/>
              </a:rPr>
              <a:t>Learning curve:</a:t>
            </a:r>
            <a:r>
              <a:rPr lang="en-US" sz="2000">
                <a:solidFill>
                  <a:schemeClr val="bg1"/>
                </a:solidFill>
                <a:ea typeface="+mn-lt"/>
                <a:cs typeface="+mn-lt"/>
              </a:rPr>
              <a:t> </a:t>
            </a:r>
            <a:r>
              <a:rPr lang="en-US" sz="2000">
                <a:solidFill>
                  <a:schemeClr val="bg1"/>
                </a:solidFill>
                <a:latin typeface="Tenorite"/>
              </a:rPr>
              <a:t>redux-</a:t>
            </a:r>
            <a:r>
              <a:rPr lang="en-US" sz="2000" err="1">
                <a:solidFill>
                  <a:schemeClr val="bg1"/>
                </a:solidFill>
                <a:latin typeface="Tenorite"/>
              </a:rPr>
              <a:t>thunk</a:t>
            </a:r>
            <a:r>
              <a:rPr lang="en-US" sz="2000">
                <a:solidFill>
                  <a:schemeClr val="bg1"/>
                </a:solidFill>
                <a:ea typeface="+mn-lt"/>
                <a:cs typeface="+mn-lt"/>
              </a:rPr>
              <a:t> has a lower learning curve than </a:t>
            </a:r>
            <a:r>
              <a:rPr lang="en-US" sz="2000">
                <a:solidFill>
                  <a:schemeClr val="bg1"/>
                </a:solidFill>
                <a:latin typeface="Tenorite"/>
              </a:rPr>
              <a:t>redux-saga</a:t>
            </a:r>
            <a:r>
              <a:rPr lang="en-US" sz="2000">
                <a:solidFill>
                  <a:schemeClr val="bg1"/>
                </a:solidFill>
                <a:ea typeface="+mn-lt"/>
                <a:cs typeface="+mn-lt"/>
              </a:rPr>
              <a:t> because it is based on a simpler programming model. </a:t>
            </a:r>
            <a:r>
              <a:rPr lang="en-US" sz="2000">
                <a:solidFill>
                  <a:schemeClr val="bg1"/>
                </a:solidFill>
                <a:latin typeface="Tenorite"/>
              </a:rPr>
              <a:t>redux-saga</a:t>
            </a:r>
            <a:r>
              <a:rPr lang="en-US" sz="2000">
                <a:solidFill>
                  <a:schemeClr val="bg1"/>
                </a:solidFill>
                <a:ea typeface="+mn-lt"/>
                <a:cs typeface="+mn-lt"/>
              </a:rPr>
              <a:t> requires more advanced knowledge of JavaScript, generators, and special effects.</a:t>
            </a:r>
            <a:endParaRPr lang="en-US" sz="2000">
              <a:solidFill>
                <a:schemeClr val="bg1"/>
              </a:solidFill>
            </a:endParaRPr>
          </a:p>
        </p:txBody>
      </p:sp>
    </p:spTree>
    <p:extLst>
      <p:ext uri="{BB962C8B-B14F-4D97-AF65-F5344CB8AC3E}">
        <p14:creationId xmlns:p14="http://schemas.microsoft.com/office/powerpoint/2010/main" val="41566922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ctrTitle"/>
          </p:nvPr>
        </p:nvSpPr>
        <p:spPr>
          <a:xfrm>
            <a:off x="1167494" y="1122363"/>
            <a:ext cx="6220278" cy="2387600"/>
          </a:xfrm>
        </p:spPr>
        <p:txBody>
          <a:bodyPr/>
          <a:lstStyle/>
          <a:p>
            <a:r>
              <a:rPr lang="en-US"/>
              <a:t>Thank you</a:t>
            </a:r>
          </a:p>
        </p:txBody>
      </p:sp>
      <p:sp>
        <p:nvSpPr>
          <p:cNvPr id="3" name="Content Placeholder 2">
            <a:extLst>
              <a:ext uri="{FF2B5EF4-FFF2-40B4-BE49-F238E27FC236}">
                <a16:creationId xmlns:a16="http://schemas.microsoft.com/office/drawing/2014/main" id="{BABC2CE0-8806-4B2A-A10A-32984D317434}"/>
              </a:ext>
            </a:extLst>
          </p:cNvPr>
          <p:cNvSpPr>
            <a:spLocks noGrp="1"/>
          </p:cNvSpPr>
          <p:nvPr>
            <p:ph type="subTitle" idx="1"/>
          </p:nvPr>
        </p:nvSpPr>
        <p:spPr>
          <a:xfrm>
            <a:off x="1167493" y="3602038"/>
            <a:ext cx="6220277" cy="2247219"/>
          </a:xfrm>
        </p:spPr>
        <p:txBody>
          <a:bodyPr vert="horz" lIns="91440" tIns="45720" rIns="91440" bIns="45720" rtlCol="0" anchor="t">
            <a:normAutofit/>
          </a:bodyPr>
          <a:lstStyle/>
          <a:p>
            <a:endParaRPr lang="en-US"/>
          </a:p>
        </p:txBody>
      </p:sp>
    </p:spTree>
    <p:extLst>
      <p:ext uri="{BB962C8B-B14F-4D97-AF65-F5344CB8AC3E}">
        <p14:creationId xmlns:p14="http://schemas.microsoft.com/office/powerpoint/2010/main" val="926184573"/>
      </p:ext>
    </p:extLst>
  </p:cSld>
  <p:clrMapOvr>
    <a:masterClrMapping/>
  </p:clrMapOvr>
</p:sld>
</file>

<file path=ppt/theme/theme1.xml><?xml version="1.0" encoding="utf-8"?>
<a:theme xmlns:a="http://schemas.openxmlformats.org/drawingml/2006/main" name="Office Them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14199C43B6D445AD82B92697DE8063" ma:contentTypeVersion="6" ma:contentTypeDescription="Create a new document." ma:contentTypeScope="" ma:versionID="dcf66c50fcac9b052091da682e7a59c6">
  <xsd:schema xmlns:xsd="http://www.w3.org/2001/XMLSchema" xmlns:xs="http://www.w3.org/2001/XMLSchema" xmlns:p="http://schemas.microsoft.com/office/2006/metadata/properties" xmlns:ns2="359cc234-98f2-4964-a039-5c29b266dcd7" targetNamespace="http://schemas.microsoft.com/office/2006/metadata/properties" ma:root="true" ma:fieldsID="d52755afe733072b3bb7f323429c33b6" ns2:_="">
    <xsd:import namespace="359cc234-98f2-4964-a039-5c29b266dcd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9cc234-98f2-4964-a039-5c29b266dc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2076B5C-85B0-4D30-852D-5E5312EEA93B}">
  <ds:schemaRefs>
    <ds:schemaRef ds:uri="http://schemas.microsoft.com/sharepoint/v3/contenttype/forms"/>
  </ds:schemaRefs>
</ds:datastoreItem>
</file>

<file path=customXml/itemProps2.xml><?xml version="1.0" encoding="utf-8"?>
<ds:datastoreItem xmlns:ds="http://schemas.openxmlformats.org/officeDocument/2006/customXml" ds:itemID="{1342FAFE-88B4-49B4-9588-86CB0E564E5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1F8B195-A3BD-4B76-A563-74EC7A8603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59cc234-98f2-4964-a039-5c29b266dc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TM45331398</Template>
  <Application>Microsoft Office PowerPoint</Application>
  <PresentationFormat>Widescreen</PresentationFormat>
  <Slides>20</Slides>
  <Notes>0</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React Redux</vt:lpstr>
      <vt:lpstr>Agenda</vt:lpstr>
      <vt:lpstr>Introduction</vt:lpstr>
      <vt:lpstr>Introduction</vt:lpstr>
      <vt:lpstr>Introduction</vt:lpstr>
      <vt:lpstr>Benefits of Redux</vt:lpstr>
      <vt:lpstr>Three Core Concepts of Redux</vt:lpstr>
      <vt:lpstr>Three Core Principles of Redux</vt:lpstr>
      <vt:lpstr>Three Core Principles of Redux</vt:lpstr>
      <vt:lpstr>Agenda</vt:lpstr>
      <vt:lpstr>Middleware</vt:lpstr>
      <vt:lpstr>Redux Thunk</vt:lpstr>
      <vt:lpstr>Agenda</vt:lpstr>
      <vt:lpstr>Redux Hooks</vt:lpstr>
      <vt:lpstr>Generator Functions</vt:lpstr>
      <vt:lpstr>Generator Functions</vt:lpstr>
      <vt:lpstr>Redux Saga</vt:lpstr>
      <vt:lpstr>Agenda</vt:lpstr>
      <vt:lpstr>Redux Thunk vs Redux Saga</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
  <cp:revision>25</cp:revision>
  <dcterms:created xsi:type="dcterms:W3CDTF">2023-04-17T04:39:15Z</dcterms:created>
  <dcterms:modified xsi:type="dcterms:W3CDTF">2025-12-27T08:29:47Z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0x0101003A14199C43B6D445AD82B92697DE8063</vt:lpwstr>
  </property>
</Properties>
</file>